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36" autoAdjust="0"/>
    <p:restoredTop sz="94660"/>
  </p:normalViewPr>
  <p:slideViewPr>
    <p:cSldViewPr snapToGrid="0">
      <p:cViewPr varScale="1">
        <p:scale>
          <a:sx n="102" d="100"/>
          <a:sy n="102" d="100"/>
        </p:scale>
        <p:origin x="154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D:\SQL%20PRACTICE\shipments_ranked.csv"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D:\SQL%20PRACTICE\avg_delay_per_delivery_Type.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SQL%20PRACTICE\numberofshipments.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SQL%20PRACTICE\avg_transit_time_each_route.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SQL%20PRACTICE\avg_delay_each_route.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SQL%20PRACTICE\efficiencyratio.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SQL%20PRACTICE\efficiencyratiotop3worst.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SQL%20PRACTICE\greater20s.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SQL%20PRACTICE\top%203%20warehouses%20with%20delay.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SQL%20PRACTICE\total%20shipments%20vs%20delayed%20shipments%20for%20each%20warehouse.csv"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D:\SQL%20PRACTICE\globalaveragedelay.csv"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D:\SQL%20PRACTICE\RANKEDWAREHOUSESBYDELAYONTIMEDELIVERYPERCENTAGE.csv"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D:\SQL%20PRACTICE\comparisonofavgratingandexperience.csv"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D:\SQL%20PRACTICE\mostfrequentdelayreasons.csv"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D:\SQL%20PRACTICE\AVGdeliverydelaypersourcecountry.csv" TargetMode="External"/><Relationship Id="rId2" Type="http://schemas.microsoft.com/office/2011/relationships/chartColorStyle" Target="colors15.xml"/><Relationship Id="rId1" Type="http://schemas.microsoft.com/office/2011/relationships/chartStyle" Target="styl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a:t>Shipment Delays by Warehouse</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shipments_ranked!$D$1</c:f>
              <c:strCache>
                <c:ptCount val="1"/>
                <c:pt idx="0">
                  <c:v>Delivery_Delay</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shipments_ranked!$A$2:$A$16</c:f>
              <c:numCache>
                <c:formatCode>General</c:formatCode>
                <c:ptCount val="15"/>
                <c:pt idx="0">
                  <c:v>1</c:v>
                </c:pt>
                <c:pt idx="1">
                  <c:v>1</c:v>
                </c:pt>
                <c:pt idx="2">
                  <c:v>1</c:v>
                </c:pt>
                <c:pt idx="3">
                  <c:v>2</c:v>
                </c:pt>
                <c:pt idx="4">
                  <c:v>1</c:v>
                </c:pt>
                <c:pt idx="5">
                  <c:v>1</c:v>
                </c:pt>
                <c:pt idx="6">
                  <c:v>2</c:v>
                </c:pt>
                <c:pt idx="7">
                  <c:v>1</c:v>
                </c:pt>
                <c:pt idx="8">
                  <c:v>1</c:v>
                </c:pt>
                <c:pt idx="9">
                  <c:v>1</c:v>
                </c:pt>
                <c:pt idx="10">
                  <c:v>2</c:v>
                </c:pt>
                <c:pt idx="11">
                  <c:v>2</c:v>
                </c:pt>
                <c:pt idx="12">
                  <c:v>3</c:v>
                </c:pt>
                <c:pt idx="13">
                  <c:v>2</c:v>
                </c:pt>
                <c:pt idx="14">
                  <c:v>3</c:v>
                </c:pt>
              </c:numCache>
            </c:numRef>
          </c:cat>
          <c:val>
            <c:numRef>
              <c:f>shipments_ranked!$D$2:$D$16</c:f>
              <c:numCache>
                <c:formatCode>General</c:formatCode>
                <c:ptCount val="15"/>
                <c:pt idx="0">
                  <c:v>279</c:v>
                </c:pt>
                <c:pt idx="1">
                  <c:v>279</c:v>
                </c:pt>
                <c:pt idx="2">
                  <c:v>271</c:v>
                </c:pt>
                <c:pt idx="3">
                  <c:v>265</c:v>
                </c:pt>
                <c:pt idx="4">
                  <c:v>264</c:v>
                </c:pt>
                <c:pt idx="5">
                  <c:v>262</c:v>
                </c:pt>
                <c:pt idx="6">
                  <c:v>260</c:v>
                </c:pt>
                <c:pt idx="7">
                  <c:v>256</c:v>
                </c:pt>
                <c:pt idx="8">
                  <c:v>255</c:v>
                </c:pt>
                <c:pt idx="9">
                  <c:v>253</c:v>
                </c:pt>
                <c:pt idx="10">
                  <c:v>252</c:v>
                </c:pt>
                <c:pt idx="11">
                  <c:v>249</c:v>
                </c:pt>
                <c:pt idx="12">
                  <c:v>249</c:v>
                </c:pt>
                <c:pt idx="13">
                  <c:v>247</c:v>
                </c:pt>
                <c:pt idx="14">
                  <c:v>246</c:v>
                </c:pt>
              </c:numCache>
            </c:numRef>
          </c:val>
          <c:extLst>
            <c:ext xmlns:c16="http://schemas.microsoft.com/office/drawing/2014/chart" uri="{C3380CC4-5D6E-409C-BE32-E72D297353CC}">
              <c16:uniqueId val="{00000000-5261-4D61-AA2F-ABBFFCEC8DFE}"/>
            </c:ext>
          </c:extLst>
        </c:ser>
        <c:dLbls>
          <c:dLblPos val="inEnd"/>
          <c:showLegendKey val="0"/>
          <c:showVal val="1"/>
          <c:showCatName val="0"/>
          <c:showSerName val="0"/>
          <c:showPercent val="0"/>
          <c:showBubbleSize val="0"/>
        </c:dLbls>
        <c:gapWidth val="80"/>
        <c:overlap val="25"/>
        <c:axId val="790734367"/>
        <c:axId val="790734847"/>
      </c:barChart>
      <c:catAx>
        <c:axId val="790734367"/>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Rank Warehouse_ID</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790734847"/>
        <c:crosses val="autoZero"/>
        <c:auto val="1"/>
        <c:lblAlgn val="ctr"/>
        <c:lblOffset val="100"/>
        <c:noMultiLvlLbl val="0"/>
      </c:catAx>
      <c:valAx>
        <c:axId val="790734847"/>
        <c:scaling>
          <c:orientation val="minMax"/>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Delivery Delay</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7907343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AVG Delayed Hours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avg_delay_per_delivery_Type!$B$1</c:f>
              <c:strCache>
                <c:ptCount val="1"/>
                <c:pt idx="0">
                  <c:v>AVG_Delayed_Hours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avg_delay_per_delivery_Type!$A$2:$A$3</c:f>
              <c:strCache>
                <c:ptCount val="2"/>
                <c:pt idx="0">
                  <c:v>Standard</c:v>
                </c:pt>
                <c:pt idx="1">
                  <c:v>Express</c:v>
                </c:pt>
              </c:strCache>
            </c:strRef>
          </c:cat>
          <c:val>
            <c:numRef>
              <c:f>avg_delay_per_delivery_Type!$B$2:$B$3</c:f>
              <c:numCache>
                <c:formatCode>General</c:formatCode>
                <c:ptCount val="2"/>
                <c:pt idx="0">
                  <c:v>52</c:v>
                </c:pt>
                <c:pt idx="1">
                  <c:v>54</c:v>
                </c:pt>
              </c:numCache>
            </c:numRef>
          </c:val>
          <c:extLst>
            <c:ext xmlns:c16="http://schemas.microsoft.com/office/drawing/2014/chart" uri="{C3380CC4-5D6E-409C-BE32-E72D297353CC}">
              <c16:uniqueId val="{00000000-9E61-43BC-84E2-8D76E4CE5DE3}"/>
            </c:ext>
          </c:extLst>
        </c:ser>
        <c:dLbls>
          <c:dLblPos val="outEnd"/>
          <c:showLegendKey val="0"/>
          <c:showVal val="1"/>
          <c:showCatName val="0"/>
          <c:showSerName val="0"/>
          <c:showPercent val="0"/>
          <c:showBubbleSize val="0"/>
        </c:dLbls>
        <c:gapWidth val="219"/>
        <c:overlap val="-27"/>
        <c:axId val="1582516672"/>
        <c:axId val="1582506112"/>
      </c:barChart>
      <c:catAx>
        <c:axId val="158251667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DELIVERY_TYPE</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82506112"/>
        <c:crosses val="autoZero"/>
        <c:auto val="1"/>
        <c:lblAlgn val="ctr"/>
        <c:lblOffset val="100"/>
        <c:noMultiLvlLbl val="0"/>
      </c:catAx>
      <c:valAx>
        <c:axId val="15825061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AVG_DELAY_HOURS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825166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dirty="0"/>
              <a:t>Number of shipments by route</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numberofshipments!$B$1</c:f>
              <c:strCache>
                <c:ptCount val="1"/>
                <c:pt idx="0">
                  <c:v>number_of_shipments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numberofshipments!$A$2:$A$21</c:f>
              <c:strCache>
                <c:ptCount val="20"/>
                <c:pt idx="0">
                  <c:v>R016</c:v>
                </c:pt>
                <c:pt idx="1">
                  <c:v>R018</c:v>
                </c:pt>
                <c:pt idx="2">
                  <c:v>R012</c:v>
                </c:pt>
                <c:pt idx="3">
                  <c:v>R015</c:v>
                </c:pt>
                <c:pt idx="4">
                  <c:v>R006</c:v>
                </c:pt>
                <c:pt idx="5">
                  <c:v>R017</c:v>
                </c:pt>
                <c:pt idx="6">
                  <c:v>R014</c:v>
                </c:pt>
                <c:pt idx="7">
                  <c:v>R010</c:v>
                </c:pt>
                <c:pt idx="8">
                  <c:v>R007</c:v>
                </c:pt>
                <c:pt idx="9">
                  <c:v>R013</c:v>
                </c:pt>
                <c:pt idx="10">
                  <c:v>R019</c:v>
                </c:pt>
                <c:pt idx="11">
                  <c:v>R004</c:v>
                </c:pt>
                <c:pt idx="12">
                  <c:v>R005</c:v>
                </c:pt>
                <c:pt idx="13">
                  <c:v>R011</c:v>
                </c:pt>
                <c:pt idx="14">
                  <c:v>R002</c:v>
                </c:pt>
                <c:pt idx="15">
                  <c:v>R001</c:v>
                </c:pt>
                <c:pt idx="16">
                  <c:v>R008</c:v>
                </c:pt>
                <c:pt idx="17">
                  <c:v>R020</c:v>
                </c:pt>
                <c:pt idx="18">
                  <c:v>R009</c:v>
                </c:pt>
                <c:pt idx="19">
                  <c:v>R003</c:v>
                </c:pt>
              </c:strCache>
            </c:strRef>
          </c:cat>
          <c:val>
            <c:numRef>
              <c:f>numberofshipments!$B$2:$B$21</c:f>
              <c:numCache>
                <c:formatCode>General</c:formatCode>
                <c:ptCount val="20"/>
                <c:pt idx="0">
                  <c:v>71</c:v>
                </c:pt>
                <c:pt idx="1">
                  <c:v>59</c:v>
                </c:pt>
                <c:pt idx="2">
                  <c:v>56</c:v>
                </c:pt>
                <c:pt idx="3">
                  <c:v>56</c:v>
                </c:pt>
                <c:pt idx="4">
                  <c:v>56</c:v>
                </c:pt>
                <c:pt idx="5">
                  <c:v>53</c:v>
                </c:pt>
                <c:pt idx="6">
                  <c:v>53</c:v>
                </c:pt>
                <c:pt idx="7">
                  <c:v>52</c:v>
                </c:pt>
                <c:pt idx="8">
                  <c:v>51</c:v>
                </c:pt>
                <c:pt idx="9">
                  <c:v>50</c:v>
                </c:pt>
                <c:pt idx="10">
                  <c:v>49</c:v>
                </c:pt>
                <c:pt idx="11">
                  <c:v>49</c:v>
                </c:pt>
                <c:pt idx="12">
                  <c:v>48</c:v>
                </c:pt>
                <c:pt idx="13">
                  <c:v>48</c:v>
                </c:pt>
                <c:pt idx="14">
                  <c:v>47</c:v>
                </c:pt>
                <c:pt idx="15">
                  <c:v>44</c:v>
                </c:pt>
                <c:pt idx="16">
                  <c:v>44</c:v>
                </c:pt>
                <c:pt idx="17">
                  <c:v>42</c:v>
                </c:pt>
                <c:pt idx="18">
                  <c:v>38</c:v>
                </c:pt>
                <c:pt idx="19">
                  <c:v>34</c:v>
                </c:pt>
              </c:numCache>
            </c:numRef>
          </c:val>
          <c:extLst>
            <c:ext xmlns:c16="http://schemas.microsoft.com/office/drawing/2014/chart" uri="{C3380CC4-5D6E-409C-BE32-E72D297353CC}">
              <c16:uniqueId val="{00000000-7A9E-4846-91A3-E31417008D40}"/>
            </c:ext>
          </c:extLst>
        </c:ser>
        <c:dLbls>
          <c:dLblPos val="outEnd"/>
          <c:showLegendKey val="0"/>
          <c:showVal val="1"/>
          <c:showCatName val="0"/>
          <c:showSerName val="0"/>
          <c:showPercent val="0"/>
          <c:showBubbleSize val="0"/>
        </c:dLbls>
        <c:gapWidth val="100"/>
        <c:overlap val="-24"/>
        <c:axId val="1381384895"/>
        <c:axId val="1381385375"/>
      </c:barChart>
      <c:catAx>
        <c:axId val="1381384895"/>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Route id</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381385375"/>
        <c:crosses val="autoZero"/>
        <c:auto val="1"/>
        <c:lblAlgn val="ctr"/>
        <c:lblOffset val="100"/>
        <c:noMultiLvlLbl val="0"/>
      </c:catAx>
      <c:valAx>
        <c:axId val="1381385375"/>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Number of shipments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3813848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Average transit time</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avg_transit_time_each_route!$B$1</c:f>
              <c:strCache>
                <c:ptCount val="1"/>
                <c:pt idx="0">
                  <c:v>average_transit_time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Pt>
            <c:idx val="6"/>
            <c:invertIfNegative val="0"/>
            <c:bubble3D val="0"/>
            <c:extLst>
              <c:ext xmlns:c16="http://schemas.microsoft.com/office/drawing/2014/chart" uri="{C3380CC4-5D6E-409C-BE32-E72D297353CC}">
                <c16:uniqueId val="{00000001-466F-4CB4-94BA-199A931489F1}"/>
              </c:ext>
            </c:extLst>
          </c:dPt>
          <c:dPt>
            <c:idx val="14"/>
            <c:invertIfNegative val="0"/>
            <c:bubble3D val="0"/>
            <c:extLst>
              <c:ext xmlns:c16="http://schemas.microsoft.com/office/drawing/2014/chart" uri="{C3380CC4-5D6E-409C-BE32-E72D297353CC}">
                <c16:uniqueId val="{00000003-466F-4CB4-94BA-199A931489F1}"/>
              </c:ext>
            </c:extLst>
          </c:dPt>
          <c:dPt>
            <c:idx val="19"/>
            <c:invertIfNegative val="0"/>
            <c:bubble3D val="0"/>
            <c:extLst>
              <c:ext xmlns:c16="http://schemas.microsoft.com/office/drawing/2014/chart" uri="{C3380CC4-5D6E-409C-BE32-E72D297353CC}">
                <c16:uniqueId val="{00000005-466F-4CB4-94BA-199A931489F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avg_transit_time_each_route!$A$2:$A$21</c:f>
              <c:strCache>
                <c:ptCount val="20"/>
                <c:pt idx="0">
                  <c:v>R004</c:v>
                </c:pt>
                <c:pt idx="1">
                  <c:v>R018</c:v>
                </c:pt>
                <c:pt idx="2">
                  <c:v>R007</c:v>
                </c:pt>
                <c:pt idx="3">
                  <c:v>R017</c:v>
                </c:pt>
                <c:pt idx="4">
                  <c:v>R012</c:v>
                </c:pt>
                <c:pt idx="5">
                  <c:v>R002</c:v>
                </c:pt>
                <c:pt idx="6">
                  <c:v>R003</c:v>
                </c:pt>
                <c:pt idx="7">
                  <c:v>R005</c:v>
                </c:pt>
                <c:pt idx="8">
                  <c:v>R020</c:v>
                </c:pt>
                <c:pt idx="9">
                  <c:v>R014</c:v>
                </c:pt>
                <c:pt idx="10">
                  <c:v>R016</c:v>
                </c:pt>
                <c:pt idx="11">
                  <c:v>R008</c:v>
                </c:pt>
                <c:pt idx="12">
                  <c:v>R013</c:v>
                </c:pt>
                <c:pt idx="13">
                  <c:v>R001</c:v>
                </c:pt>
                <c:pt idx="14">
                  <c:v>R006</c:v>
                </c:pt>
                <c:pt idx="15">
                  <c:v>R011</c:v>
                </c:pt>
                <c:pt idx="16">
                  <c:v>R010</c:v>
                </c:pt>
                <c:pt idx="17">
                  <c:v>R019</c:v>
                </c:pt>
                <c:pt idx="18">
                  <c:v>R009</c:v>
                </c:pt>
                <c:pt idx="19">
                  <c:v>R015</c:v>
                </c:pt>
              </c:strCache>
            </c:strRef>
          </c:cat>
          <c:val>
            <c:numRef>
              <c:f>avg_transit_time_each_route!$B$2:$B$21</c:f>
              <c:numCache>
                <c:formatCode>General</c:formatCode>
                <c:ptCount val="20"/>
                <c:pt idx="0">
                  <c:v>83.76</c:v>
                </c:pt>
                <c:pt idx="1">
                  <c:v>75.73</c:v>
                </c:pt>
                <c:pt idx="2">
                  <c:v>70.900000000000006</c:v>
                </c:pt>
                <c:pt idx="3">
                  <c:v>70.599999999999994</c:v>
                </c:pt>
                <c:pt idx="4">
                  <c:v>63.8</c:v>
                </c:pt>
                <c:pt idx="5">
                  <c:v>63.7</c:v>
                </c:pt>
                <c:pt idx="6">
                  <c:v>60.21</c:v>
                </c:pt>
                <c:pt idx="7">
                  <c:v>57.13</c:v>
                </c:pt>
                <c:pt idx="8">
                  <c:v>52.98</c:v>
                </c:pt>
                <c:pt idx="9">
                  <c:v>52.36</c:v>
                </c:pt>
                <c:pt idx="10">
                  <c:v>51.63</c:v>
                </c:pt>
                <c:pt idx="11">
                  <c:v>51.14</c:v>
                </c:pt>
                <c:pt idx="12">
                  <c:v>50.38</c:v>
                </c:pt>
                <c:pt idx="13">
                  <c:v>44.3</c:v>
                </c:pt>
                <c:pt idx="14">
                  <c:v>41.55</c:v>
                </c:pt>
                <c:pt idx="15">
                  <c:v>41.13</c:v>
                </c:pt>
                <c:pt idx="16">
                  <c:v>33.58</c:v>
                </c:pt>
                <c:pt idx="17">
                  <c:v>30.73</c:v>
                </c:pt>
                <c:pt idx="18">
                  <c:v>28.18</c:v>
                </c:pt>
                <c:pt idx="19">
                  <c:v>28.11</c:v>
                </c:pt>
              </c:numCache>
            </c:numRef>
          </c:val>
          <c:extLst>
            <c:ext xmlns:c16="http://schemas.microsoft.com/office/drawing/2014/chart" uri="{C3380CC4-5D6E-409C-BE32-E72D297353CC}">
              <c16:uniqueId val="{00000006-466F-4CB4-94BA-199A931489F1}"/>
            </c:ext>
          </c:extLst>
        </c:ser>
        <c:dLbls>
          <c:dLblPos val="outEnd"/>
          <c:showLegendKey val="0"/>
          <c:showVal val="1"/>
          <c:showCatName val="0"/>
          <c:showSerName val="0"/>
          <c:showPercent val="0"/>
          <c:showBubbleSize val="0"/>
        </c:dLbls>
        <c:gapWidth val="100"/>
        <c:overlap val="-24"/>
        <c:axId val="1154172495"/>
        <c:axId val="1154172015"/>
      </c:barChart>
      <c:catAx>
        <c:axId val="1154172495"/>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ROUTE ID</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54172015"/>
        <c:crosses val="autoZero"/>
        <c:auto val="1"/>
        <c:lblAlgn val="ctr"/>
        <c:lblOffset val="100"/>
        <c:noMultiLvlLbl val="0"/>
      </c:catAx>
      <c:valAx>
        <c:axId val="1154172015"/>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541724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AVG Delayed Hours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avg_delay_each_route!$B$1</c:f>
              <c:strCache>
                <c:ptCount val="1"/>
                <c:pt idx="0">
                  <c:v>AVG_Delayed_Hours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Pt>
            <c:idx val="3"/>
            <c:invertIfNegative val="0"/>
            <c:bubble3D val="0"/>
            <c:extLst>
              <c:ext xmlns:c16="http://schemas.microsoft.com/office/drawing/2014/chart" uri="{C3380CC4-5D6E-409C-BE32-E72D297353CC}">
                <c16:uniqueId val="{00000001-F4DF-474C-AEC1-D6290AFE8F4C}"/>
              </c:ext>
            </c:extLst>
          </c:dPt>
          <c:dPt>
            <c:idx val="12"/>
            <c:invertIfNegative val="0"/>
            <c:bubble3D val="0"/>
            <c:extLst>
              <c:ext xmlns:c16="http://schemas.microsoft.com/office/drawing/2014/chart" uri="{C3380CC4-5D6E-409C-BE32-E72D297353CC}">
                <c16:uniqueId val="{00000003-F4DF-474C-AEC1-D6290AFE8F4C}"/>
              </c:ext>
            </c:extLst>
          </c:dPt>
          <c:dPt>
            <c:idx val="14"/>
            <c:invertIfNegative val="0"/>
            <c:bubble3D val="0"/>
            <c:extLst>
              <c:ext xmlns:c16="http://schemas.microsoft.com/office/drawing/2014/chart" uri="{C3380CC4-5D6E-409C-BE32-E72D297353CC}">
                <c16:uniqueId val="{00000005-F4DF-474C-AEC1-D6290AFE8F4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avg_delay_each_route!$A$2:$A$21</c:f>
              <c:strCache>
                <c:ptCount val="20"/>
                <c:pt idx="0">
                  <c:v>R002</c:v>
                </c:pt>
                <c:pt idx="1">
                  <c:v>R007</c:v>
                </c:pt>
                <c:pt idx="2">
                  <c:v>R020</c:v>
                </c:pt>
                <c:pt idx="3">
                  <c:v>R003</c:v>
                </c:pt>
                <c:pt idx="4">
                  <c:v>R008</c:v>
                </c:pt>
                <c:pt idx="5">
                  <c:v>R005</c:v>
                </c:pt>
                <c:pt idx="6">
                  <c:v>R004</c:v>
                </c:pt>
                <c:pt idx="7">
                  <c:v>R018</c:v>
                </c:pt>
                <c:pt idx="8">
                  <c:v>R011</c:v>
                </c:pt>
                <c:pt idx="9">
                  <c:v>R014</c:v>
                </c:pt>
                <c:pt idx="10">
                  <c:v>R010</c:v>
                </c:pt>
                <c:pt idx="11">
                  <c:v>R017</c:v>
                </c:pt>
                <c:pt idx="12">
                  <c:v>R015</c:v>
                </c:pt>
                <c:pt idx="13">
                  <c:v>R016</c:v>
                </c:pt>
                <c:pt idx="14">
                  <c:v>R006</c:v>
                </c:pt>
                <c:pt idx="15">
                  <c:v>R019</c:v>
                </c:pt>
                <c:pt idx="16">
                  <c:v>R012</c:v>
                </c:pt>
                <c:pt idx="17">
                  <c:v>R013</c:v>
                </c:pt>
                <c:pt idx="18">
                  <c:v>R009</c:v>
                </c:pt>
                <c:pt idx="19">
                  <c:v>R001</c:v>
                </c:pt>
              </c:strCache>
            </c:strRef>
          </c:cat>
          <c:val>
            <c:numRef>
              <c:f>avg_delay_each_route!$B$2:$B$21</c:f>
              <c:numCache>
                <c:formatCode>General</c:formatCode>
                <c:ptCount val="20"/>
                <c:pt idx="0">
                  <c:v>41.04</c:v>
                </c:pt>
                <c:pt idx="1">
                  <c:v>34.01</c:v>
                </c:pt>
                <c:pt idx="2">
                  <c:v>32.799999999999997</c:v>
                </c:pt>
                <c:pt idx="3">
                  <c:v>32.18</c:v>
                </c:pt>
                <c:pt idx="4">
                  <c:v>30.81</c:v>
                </c:pt>
                <c:pt idx="5">
                  <c:v>29.86</c:v>
                </c:pt>
                <c:pt idx="6">
                  <c:v>25.88</c:v>
                </c:pt>
                <c:pt idx="7">
                  <c:v>25.83</c:v>
                </c:pt>
                <c:pt idx="8">
                  <c:v>22.64</c:v>
                </c:pt>
                <c:pt idx="9">
                  <c:v>20.97</c:v>
                </c:pt>
                <c:pt idx="10">
                  <c:v>20.25</c:v>
                </c:pt>
                <c:pt idx="11">
                  <c:v>19.27</c:v>
                </c:pt>
                <c:pt idx="12">
                  <c:v>15.19</c:v>
                </c:pt>
                <c:pt idx="13">
                  <c:v>14.89</c:v>
                </c:pt>
                <c:pt idx="14">
                  <c:v>14.01</c:v>
                </c:pt>
                <c:pt idx="15">
                  <c:v>13.91</c:v>
                </c:pt>
                <c:pt idx="16">
                  <c:v>13.89</c:v>
                </c:pt>
                <c:pt idx="17">
                  <c:v>11.95</c:v>
                </c:pt>
                <c:pt idx="18">
                  <c:v>9.7200000000000006</c:v>
                </c:pt>
                <c:pt idx="19">
                  <c:v>6.83</c:v>
                </c:pt>
              </c:numCache>
            </c:numRef>
          </c:val>
          <c:extLst>
            <c:ext xmlns:c16="http://schemas.microsoft.com/office/drawing/2014/chart" uri="{C3380CC4-5D6E-409C-BE32-E72D297353CC}">
              <c16:uniqueId val="{00000006-F4DF-474C-AEC1-D6290AFE8F4C}"/>
            </c:ext>
          </c:extLst>
        </c:ser>
        <c:dLbls>
          <c:dLblPos val="outEnd"/>
          <c:showLegendKey val="0"/>
          <c:showVal val="1"/>
          <c:showCatName val="0"/>
          <c:showSerName val="0"/>
          <c:showPercent val="0"/>
          <c:showBubbleSize val="0"/>
        </c:dLbls>
        <c:gapWidth val="100"/>
        <c:overlap val="-24"/>
        <c:axId val="693365088"/>
        <c:axId val="693362688"/>
      </c:barChart>
      <c:catAx>
        <c:axId val="693365088"/>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93362688"/>
        <c:crosses val="autoZero"/>
        <c:auto val="1"/>
        <c:lblAlgn val="ctr"/>
        <c:lblOffset val="100"/>
        <c:noMultiLvlLbl val="0"/>
      </c:catAx>
      <c:valAx>
        <c:axId val="693362688"/>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933650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Efficiency Ratio</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efficiencyratio!$B$1</c:f>
              <c:strCache>
                <c:ptCount val="1"/>
                <c:pt idx="0">
                  <c:v>ratio_Distance_Transit_Time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0"/>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2C-4DD0-928A-9E042D672C42}"/>
              </c:ext>
            </c:extLst>
          </c:dPt>
          <c:dPt>
            <c:idx val="1"/>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2C-4DD0-928A-9E042D672C42}"/>
              </c:ext>
            </c:extLst>
          </c:dPt>
          <c:dPt>
            <c:idx val="2"/>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2C-4DD0-928A-9E042D672C42}"/>
              </c:ext>
            </c:extLst>
          </c:dPt>
          <c:dPt>
            <c:idx val="17"/>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3C2C-4DD0-928A-9E042D672C42}"/>
              </c:ext>
            </c:extLst>
          </c:dPt>
          <c:dPt>
            <c:idx val="18"/>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3C2C-4DD0-928A-9E042D672C42}"/>
              </c:ext>
            </c:extLst>
          </c:dPt>
          <c:dPt>
            <c:idx val="19"/>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3C2C-4DD0-928A-9E042D672C4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efficiencyratio!$A$2:$A$21</c:f>
              <c:strCache>
                <c:ptCount val="20"/>
                <c:pt idx="0">
                  <c:v>R019</c:v>
                </c:pt>
                <c:pt idx="1">
                  <c:v>R010</c:v>
                </c:pt>
                <c:pt idx="2">
                  <c:v>R011</c:v>
                </c:pt>
                <c:pt idx="3">
                  <c:v>R005</c:v>
                </c:pt>
                <c:pt idx="4">
                  <c:v>R002</c:v>
                </c:pt>
                <c:pt idx="5">
                  <c:v>R009</c:v>
                </c:pt>
                <c:pt idx="6">
                  <c:v>R012</c:v>
                </c:pt>
                <c:pt idx="7">
                  <c:v>R016</c:v>
                </c:pt>
                <c:pt idx="8">
                  <c:v>R018</c:v>
                </c:pt>
                <c:pt idx="9">
                  <c:v>R014</c:v>
                </c:pt>
                <c:pt idx="10">
                  <c:v>R004</c:v>
                </c:pt>
                <c:pt idx="11">
                  <c:v>R007</c:v>
                </c:pt>
                <c:pt idx="12">
                  <c:v>R017</c:v>
                </c:pt>
                <c:pt idx="13">
                  <c:v>R020</c:v>
                </c:pt>
                <c:pt idx="14">
                  <c:v>R001</c:v>
                </c:pt>
                <c:pt idx="15">
                  <c:v>R013</c:v>
                </c:pt>
                <c:pt idx="16">
                  <c:v>R008</c:v>
                </c:pt>
                <c:pt idx="17">
                  <c:v>R006</c:v>
                </c:pt>
                <c:pt idx="18">
                  <c:v>R015</c:v>
                </c:pt>
                <c:pt idx="19">
                  <c:v>R003</c:v>
                </c:pt>
              </c:strCache>
            </c:strRef>
          </c:cat>
          <c:val>
            <c:numRef>
              <c:f>efficiencyratio!$B$2:$B$21</c:f>
              <c:numCache>
                <c:formatCode>General</c:formatCode>
                <c:ptCount val="20"/>
                <c:pt idx="0">
                  <c:v>545.49</c:v>
                </c:pt>
                <c:pt idx="1">
                  <c:v>540.34</c:v>
                </c:pt>
                <c:pt idx="2">
                  <c:v>475.42</c:v>
                </c:pt>
                <c:pt idx="3">
                  <c:v>430.17</c:v>
                </c:pt>
                <c:pt idx="4">
                  <c:v>392.65</c:v>
                </c:pt>
                <c:pt idx="5">
                  <c:v>360.13</c:v>
                </c:pt>
                <c:pt idx="6">
                  <c:v>269.43</c:v>
                </c:pt>
                <c:pt idx="7">
                  <c:v>256.99</c:v>
                </c:pt>
                <c:pt idx="8">
                  <c:v>217.37</c:v>
                </c:pt>
                <c:pt idx="9">
                  <c:v>197.58</c:v>
                </c:pt>
                <c:pt idx="10">
                  <c:v>174.24</c:v>
                </c:pt>
                <c:pt idx="11">
                  <c:v>173.67</c:v>
                </c:pt>
                <c:pt idx="12">
                  <c:v>147.47</c:v>
                </c:pt>
                <c:pt idx="13">
                  <c:v>146.1</c:v>
                </c:pt>
                <c:pt idx="14">
                  <c:v>143.93</c:v>
                </c:pt>
                <c:pt idx="15">
                  <c:v>121.21</c:v>
                </c:pt>
                <c:pt idx="16">
                  <c:v>107.95</c:v>
                </c:pt>
                <c:pt idx="17">
                  <c:v>101.46</c:v>
                </c:pt>
                <c:pt idx="18">
                  <c:v>52.7</c:v>
                </c:pt>
                <c:pt idx="19">
                  <c:v>37.659999999999997</c:v>
                </c:pt>
              </c:numCache>
            </c:numRef>
          </c:val>
          <c:extLst>
            <c:ext xmlns:c16="http://schemas.microsoft.com/office/drawing/2014/chart" uri="{C3380CC4-5D6E-409C-BE32-E72D297353CC}">
              <c16:uniqueId val="{0000000C-3C2C-4DD0-928A-9E042D672C42}"/>
            </c:ext>
          </c:extLst>
        </c:ser>
        <c:dLbls>
          <c:dLblPos val="outEnd"/>
          <c:showLegendKey val="0"/>
          <c:showVal val="1"/>
          <c:showCatName val="0"/>
          <c:showSerName val="0"/>
          <c:showPercent val="0"/>
          <c:showBubbleSize val="0"/>
        </c:dLbls>
        <c:gapWidth val="100"/>
        <c:overlap val="-24"/>
        <c:axId val="888253023"/>
        <c:axId val="888244383"/>
      </c:barChart>
      <c:catAx>
        <c:axId val="888253023"/>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8244383"/>
        <c:crosses val="autoZero"/>
        <c:auto val="1"/>
        <c:lblAlgn val="ctr"/>
        <c:lblOffset val="100"/>
        <c:noMultiLvlLbl val="0"/>
      </c:catAx>
      <c:valAx>
        <c:axId val="888244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8253023"/>
        <c:crosses val="autoZero"/>
        <c:crossBetween val="between"/>
      </c:valAx>
      <c:spPr>
        <a:noFill/>
        <a:ln>
          <a:noFill/>
        </a:ln>
        <a:effectLst/>
      </c:spPr>
    </c:plotArea>
    <c:plotVisOnly val="1"/>
    <c:dispBlanksAs val="gap"/>
    <c:showDLblsOverMax val="0"/>
  </c:chart>
  <c:spPr>
    <a:solidFill>
      <a:schemeClr val="bg1">
        <a:lumMod val="75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dirty="0"/>
              <a:t>Worst Efficiency Ratio</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efficiencyratiotop3worst!$B$1</c:f>
              <c:strCache>
                <c:ptCount val="1"/>
                <c:pt idx="0">
                  <c:v>ratio_DT</c:v>
                </c:pt>
              </c:strCache>
            </c:strRef>
          </c:tx>
          <c:spPr>
            <a:solidFill>
              <a:schemeClr val="accent1">
                <a:alpha val="70000"/>
              </a:schemeClr>
            </a:solidFill>
            <a:ln>
              <a:noFill/>
            </a:ln>
            <a:effectLst/>
          </c:spPr>
          <c:invertIfNegative val="0"/>
          <c:cat>
            <c:strRef>
              <c:f>efficiencyratiotop3worst!$A$2:$A$4</c:f>
              <c:strCache>
                <c:ptCount val="3"/>
                <c:pt idx="0">
                  <c:v>R003</c:v>
                </c:pt>
                <c:pt idx="1">
                  <c:v>R015</c:v>
                </c:pt>
                <c:pt idx="2">
                  <c:v>R006</c:v>
                </c:pt>
              </c:strCache>
            </c:strRef>
          </c:cat>
          <c:val>
            <c:numRef>
              <c:f>efficiencyratiotop3worst!$B$2:$B$4</c:f>
              <c:numCache>
                <c:formatCode>General</c:formatCode>
                <c:ptCount val="3"/>
                <c:pt idx="0">
                  <c:v>37.659999999999997</c:v>
                </c:pt>
                <c:pt idx="1">
                  <c:v>52.7</c:v>
                </c:pt>
                <c:pt idx="2">
                  <c:v>101.46</c:v>
                </c:pt>
              </c:numCache>
            </c:numRef>
          </c:val>
          <c:extLst>
            <c:ext xmlns:c16="http://schemas.microsoft.com/office/drawing/2014/chart" uri="{C3380CC4-5D6E-409C-BE32-E72D297353CC}">
              <c16:uniqueId val="{00000000-5F00-4C99-9236-A9B2B37F9AFE}"/>
            </c:ext>
          </c:extLst>
        </c:ser>
        <c:dLbls>
          <c:showLegendKey val="0"/>
          <c:showVal val="0"/>
          <c:showCatName val="0"/>
          <c:showSerName val="0"/>
          <c:showPercent val="0"/>
          <c:showBubbleSize val="0"/>
        </c:dLbls>
        <c:gapWidth val="80"/>
        <c:overlap val="25"/>
        <c:axId val="629378191"/>
        <c:axId val="629384911"/>
      </c:barChart>
      <c:catAx>
        <c:axId val="629378191"/>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629384911"/>
        <c:crosses val="autoZero"/>
        <c:auto val="1"/>
        <c:lblAlgn val="ctr"/>
        <c:lblOffset val="100"/>
        <c:noMultiLvlLbl val="0"/>
      </c:catAx>
      <c:valAx>
        <c:axId val="629384911"/>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62937819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r>
              <a:rPr lang="en-US"/>
              <a:t>Percentage of Shipments Exceeding Expected Transit Time by Route</a:t>
            </a:r>
          </a:p>
        </c:rich>
      </c:tx>
      <c:layout>
        <c:manualLayout>
          <c:xMode val="edge"/>
          <c:yMode val="edge"/>
          <c:x val="0.11172300478328619"/>
          <c:y val="1.2584080484211635E-2"/>
        </c:manualLayout>
      </c:layout>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greater20s!$A$2:$C$2</c:f>
              <c:strCache>
                <c:ptCount val="3"/>
                <c:pt idx="0">
                  <c:v>R019</c:v>
                </c:pt>
                <c:pt idx="1">
                  <c:v>Johannesburg</c:v>
                </c:pt>
                <c:pt idx="2">
                  <c:v>Dubai</c:v>
                </c:pt>
              </c:strCache>
            </c:strRef>
          </c:tx>
          <c:spPr>
            <a:gradFill rotWithShape="1">
              <a:gsLst>
                <a:gs pos="0">
                  <a:schemeClr val="accent1">
                    <a:shade val="36000"/>
                    <a:lumMod val="110000"/>
                    <a:satMod val="105000"/>
                    <a:tint val="67000"/>
                  </a:schemeClr>
                </a:gs>
                <a:gs pos="50000">
                  <a:schemeClr val="accent1">
                    <a:shade val="36000"/>
                    <a:lumMod val="105000"/>
                    <a:satMod val="103000"/>
                    <a:tint val="73000"/>
                  </a:schemeClr>
                </a:gs>
                <a:gs pos="100000">
                  <a:schemeClr val="accent1">
                    <a:shade val="36000"/>
                    <a:lumMod val="105000"/>
                    <a:satMod val="109000"/>
                    <a:tint val="81000"/>
                  </a:schemeClr>
                </a:gs>
              </a:gsLst>
              <a:lin ang="5400000" scaled="0"/>
            </a:gradFill>
            <a:ln w="9525" cap="flat" cmpd="sng" algn="ctr">
              <a:solidFill>
                <a:schemeClr val="accent1">
                  <a:shade val="36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greater20s!$F$2</c:f>
              <c:numCache>
                <c:formatCode>General</c:formatCode>
                <c:ptCount val="1"/>
                <c:pt idx="0">
                  <c:v>100</c:v>
                </c:pt>
              </c:numCache>
            </c:numRef>
          </c:val>
          <c:extLst>
            <c:ext xmlns:c16="http://schemas.microsoft.com/office/drawing/2014/chart" uri="{C3380CC4-5D6E-409C-BE32-E72D297353CC}">
              <c16:uniqueId val="{00000000-0AC5-4F2B-B427-11F90F5B99B3}"/>
            </c:ext>
          </c:extLst>
        </c:ser>
        <c:ser>
          <c:idx val="1"/>
          <c:order val="1"/>
          <c:tx>
            <c:strRef>
              <c:f>greater20s!$A$3:$C$3</c:f>
              <c:strCache>
                <c:ptCount val="3"/>
                <c:pt idx="0">
                  <c:v>R007</c:v>
                </c:pt>
                <c:pt idx="1">
                  <c:v>Shanghai</c:v>
                </c:pt>
                <c:pt idx="2">
                  <c:v>Sydney</c:v>
                </c:pt>
              </c:strCache>
            </c:strRef>
          </c:tx>
          <c:spPr>
            <a:gradFill rotWithShape="1">
              <a:gsLst>
                <a:gs pos="0">
                  <a:schemeClr val="accent1">
                    <a:shade val="43000"/>
                    <a:lumMod val="110000"/>
                    <a:satMod val="105000"/>
                    <a:tint val="67000"/>
                  </a:schemeClr>
                </a:gs>
                <a:gs pos="50000">
                  <a:schemeClr val="accent1">
                    <a:shade val="43000"/>
                    <a:lumMod val="105000"/>
                    <a:satMod val="103000"/>
                    <a:tint val="73000"/>
                  </a:schemeClr>
                </a:gs>
                <a:gs pos="100000">
                  <a:schemeClr val="accent1">
                    <a:shade val="43000"/>
                    <a:lumMod val="105000"/>
                    <a:satMod val="109000"/>
                    <a:tint val="81000"/>
                  </a:schemeClr>
                </a:gs>
              </a:gsLst>
              <a:lin ang="5400000" scaled="0"/>
            </a:gradFill>
            <a:ln w="9525" cap="flat" cmpd="sng" algn="ctr">
              <a:solidFill>
                <a:schemeClr val="accent1">
                  <a:shade val="43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greater20s!$F$3</c:f>
              <c:numCache>
                <c:formatCode>General</c:formatCode>
                <c:ptCount val="1"/>
                <c:pt idx="0">
                  <c:v>96.08</c:v>
                </c:pt>
              </c:numCache>
            </c:numRef>
          </c:val>
          <c:extLst>
            <c:ext xmlns:c16="http://schemas.microsoft.com/office/drawing/2014/chart" uri="{C3380CC4-5D6E-409C-BE32-E72D297353CC}">
              <c16:uniqueId val="{00000001-0AC5-4F2B-B427-11F90F5B99B3}"/>
            </c:ext>
          </c:extLst>
        </c:ser>
        <c:ser>
          <c:idx val="2"/>
          <c:order val="2"/>
          <c:tx>
            <c:strRef>
              <c:f>greater20s!$A$4:$C$4</c:f>
              <c:strCache>
                <c:ptCount val="3"/>
                <c:pt idx="0">
                  <c:v>R005</c:v>
                </c:pt>
                <c:pt idx="1">
                  <c:v>London</c:v>
                </c:pt>
                <c:pt idx="2">
                  <c:v>Los Angeles</c:v>
                </c:pt>
              </c:strCache>
            </c:strRef>
          </c:tx>
          <c:spPr>
            <a:gradFill rotWithShape="1">
              <a:gsLst>
                <a:gs pos="0">
                  <a:schemeClr val="accent1">
                    <a:shade val="50000"/>
                    <a:lumMod val="110000"/>
                    <a:satMod val="105000"/>
                    <a:tint val="67000"/>
                  </a:schemeClr>
                </a:gs>
                <a:gs pos="50000">
                  <a:schemeClr val="accent1">
                    <a:shade val="50000"/>
                    <a:lumMod val="105000"/>
                    <a:satMod val="103000"/>
                    <a:tint val="73000"/>
                  </a:schemeClr>
                </a:gs>
                <a:gs pos="100000">
                  <a:schemeClr val="accent1">
                    <a:shade val="50000"/>
                    <a:lumMod val="105000"/>
                    <a:satMod val="109000"/>
                    <a:tint val="81000"/>
                  </a:schemeClr>
                </a:gs>
              </a:gsLst>
              <a:lin ang="5400000" scaled="0"/>
            </a:gradFill>
            <a:ln w="9525" cap="flat" cmpd="sng" algn="ctr">
              <a:solidFill>
                <a:schemeClr val="accent1">
                  <a:shade val="50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greater20s!$F$4</c:f>
              <c:numCache>
                <c:formatCode>General</c:formatCode>
                <c:ptCount val="1"/>
                <c:pt idx="0">
                  <c:v>95.83</c:v>
                </c:pt>
              </c:numCache>
            </c:numRef>
          </c:val>
          <c:extLst>
            <c:ext xmlns:c16="http://schemas.microsoft.com/office/drawing/2014/chart" uri="{C3380CC4-5D6E-409C-BE32-E72D297353CC}">
              <c16:uniqueId val="{00000002-0AC5-4F2B-B427-11F90F5B99B3}"/>
            </c:ext>
          </c:extLst>
        </c:ser>
        <c:ser>
          <c:idx val="3"/>
          <c:order val="3"/>
          <c:tx>
            <c:strRef>
              <c:f>greater20s!$A$5:$C$5</c:f>
              <c:strCache>
                <c:ptCount val="3"/>
                <c:pt idx="0">
                  <c:v>R002</c:v>
                </c:pt>
                <c:pt idx="1">
                  <c:v>Dubai</c:v>
                </c:pt>
                <c:pt idx="2">
                  <c:v>Shanghai</c:v>
                </c:pt>
              </c:strCache>
            </c:strRef>
          </c:tx>
          <c:spPr>
            <a:gradFill rotWithShape="1">
              <a:gsLst>
                <a:gs pos="0">
                  <a:schemeClr val="accent1">
                    <a:shade val="56000"/>
                    <a:lumMod val="110000"/>
                    <a:satMod val="105000"/>
                    <a:tint val="67000"/>
                  </a:schemeClr>
                </a:gs>
                <a:gs pos="50000">
                  <a:schemeClr val="accent1">
                    <a:shade val="56000"/>
                    <a:lumMod val="105000"/>
                    <a:satMod val="103000"/>
                    <a:tint val="73000"/>
                  </a:schemeClr>
                </a:gs>
                <a:gs pos="100000">
                  <a:schemeClr val="accent1">
                    <a:shade val="56000"/>
                    <a:lumMod val="105000"/>
                    <a:satMod val="109000"/>
                    <a:tint val="81000"/>
                  </a:schemeClr>
                </a:gs>
              </a:gsLst>
              <a:lin ang="5400000" scaled="0"/>
            </a:gradFill>
            <a:ln w="9525" cap="flat" cmpd="sng" algn="ctr">
              <a:solidFill>
                <a:schemeClr val="accent1">
                  <a:shade val="56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greater20s!$F$5</c:f>
              <c:numCache>
                <c:formatCode>General</c:formatCode>
                <c:ptCount val="1"/>
                <c:pt idx="0">
                  <c:v>95.74</c:v>
                </c:pt>
              </c:numCache>
            </c:numRef>
          </c:val>
          <c:extLst>
            <c:ext xmlns:c16="http://schemas.microsoft.com/office/drawing/2014/chart" uri="{C3380CC4-5D6E-409C-BE32-E72D297353CC}">
              <c16:uniqueId val="{00000003-0AC5-4F2B-B427-11F90F5B99B3}"/>
            </c:ext>
          </c:extLst>
        </c:ser>
        <c:ser>
          <c:idx val="4"/>
          <c:order val="4"/>
          <c:tx>
            <c:strRef>
              <c:f>greater20s!$A$6:$C$6</c:f>
              <c:strCache>
                <c:ptCount val="3"/>
                <c:pt idx="0">
                  <c:v>R012</c:v>
                </c:pt>
                <c:pt idx="1">
                  <c:v>Sydney</c:v>
                </c:pt>
                <c:pt idx="2">
                  <c:v>Madrid</c:v>
                </c:pt>
              </c:strCache>
            </c:strRef>
          </c:tx>
          <c:spPr>
            <a:gradFill rotWithShape="1">
              <a:gsLst>
                <a:gs pos="0">
                  <a:schemeClr val="accent1">
                    <a:shade val="63000"/>
                    <a:lumMod val="110000"/>
                    <a:satMod val="105000"/>
                    <a:tint val="67000"/>
                  </a:schemeClr>
                </a:gs>
                <a:gs pos="50000">
                  <a:schemeClr val="accent1">
                    <a:shade val="63000"/>
                    <a:lumMod val="105000"/>
                    <a:satMod val="103000"/>
                    <a:tint val="73000"/>
                  </a:schemeClr>
                </a:gs>
                <a:gs pos="100000">
                  <a:schemeClr val="accent1">
                    <a:shade val="63000"/>
                    <a:lumMod val="105000"/>
                    <a:satMod val="109000"/>
                    <a:tint val="81000"/>
                  </a:schemeClr>
                </a:gs>
              </a:gsLst>
              <a:lin ang="5400000" scaled="0"/>
            </a:gradFill>
            <a:ln w="9525" cap="flat" cmpd="sng" algn="ctr">
              <a:solidFill>
                <a:schemeClr val="accent1">
                  <a:shade val="63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greater20s!$F$6</c:f>
              <c:numCache>
                <c:formatCode>General</c:formatCode>
                <c:ptCount val="1"/>
                <c:pt idx="0">
                  <c:v>94.64</c:v>
                </c:pt>
              </c:numCache>
            </c:numRef>
          </c:val>
          <c:extLst>
            <c:ext xmlns:c16="http://schemas.microsoft.com/office/drawing/2014/chart" uri="{C3380CC4-5D6E-409C-BE32-E72D297353CC}">
              <c16:uniqueId val="{00000004-0AC5-4F2B-B427-11F90F5B99B3}"/>
            </c:ext>
          </c:extLst>
        </c:ser>
        <c:ser>
          <c:idx val="5"/>
          <c:order val="5"/>
          <c:tx>
            <c:strRef>
              <c:f>greater20s!$A$7:$C$7</c:f>
              <c:strCache>
                <c:ptCount val="3"/>
                <c:pt idx="0">
                  <c:v>R010</c:v>
                </c:pt>
                <c:pt idx="1">
                  <c:v>Los Angeles</c:v>
                </c:pt>
                <c:pt idx="2">
                  <c:v>Amsterdam</c:v>
                </c:pt>
              </c:strCache>
            </c:strRef>
          </c:tx>
          <c:spPr>
            <a:gradFill rotWithShape="1">
              <a:gsLst>
                <a:gs pos="0">
                  <a:schemeClr val="accent1">
                    <a:shade val="70000"/>
                    <a:lumMod val="110000"/>
                    <a:satMod val="105000"/>
                    <a:tint val="67000"/>
                  </a:schemeClr>
                </a:gs>
                <a:gs pos="50000">
                  <a:schemeClr val="accent1">
                    <a:shade val="70000"/>
                    <a:lumMod val="105000"/>
                    <a:satMod val="103000"/>
                    <a:tint val="73000"/>
                  </a:schemeClr>
                </a:gs>
                <a:gs pos="100000">
                  <a:schemeClr val="accent1">
                    <a:shade val="70000"/>
                    <a:lumMod val="105000"/>
                    <a:satMod val="109000"/>
                    <a:tint val="81000"/>
                  </a:schemeClr>
                </a:gs>
              </a:gsLst>
              <a:lin ang="5400000" scaled="0"/>
            </a:gradFill>
            <a:ln w="9525" cap="flat" cmpd="sng" algn="ctr">
              <a:solidFill>
                <a:schemeClr val="accent1">
                  <a:shade val="70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greater20s!$F$7</c:f>
              <c:numCache>
                <c:formatCode>General</c:formatCode>
                <c:ptCount val="1"/>
                <c:pt idx="0">
                  <c:v>94.23</c:v>
                </c:pt>
              </c:numCache>
            </c:numRef>
          </c:val>
          <c:extLst>
            <c:ext xmlns:c16="http://schemas.microsoft.com/office/drawing/2014/chart" uri="{C3380CC4-5D6E-409C-BE32-E72D297353CC}">
              <c16:uniqueId val="{00000005-0AC5-4F2B-B427-11F90F5B99B3}"/>
            </c:ext>
          </c:extLst>
        </c:ser>
        <c:ser>
          <c:idx val="6"/>
          <c:order val="6"/>
          <c:tx>
            <c:strRef>
              <c:f>greater20s!$A$8:$C$8</c:f>
              <c:strCache>
                <c:ptCount val="3"/>
                <c:pt idx="0">
                  <c:v>R008</c:v>
                </c:pt>
                <c:pt idx="1">
                  <c:v>Hong Kong</c:v>
                </c:pt>
                <c:pt idx="2">
                  <c:v>Tokyo</c:v>
                </c:pt>
              </c:strCache>
            </c:strRef>
          </c:tx>
          <c:spPr>
            <a:gradFill rotWithShape="1">
              <a:gsLst>
                <a:gs pos="0">
                  <a:schemeClr val="accent1">
                    <a:shade val="76000"/>
                    <a:lumMod val="110000"/>
                    <a:satMod val="105000"/>
                    <a:tint val="67000"/>
                  </a:schemeClr>
                </a:gs>
                <a:gs pos="50000">
                  <a:schemeClr val="accent1">
                    <a:shade val="76000"/>
                    <a:lumMod val="105000"/>
                    <a:satMod val="103000"/>
                    <a:tint val="73000"/>
                  </a:schemeClr>
                </a:gs>
                <a:gs pos="100000">
                  <a:schemeClr val="accent1">
                    <a:shade val="76000"/>
                    <a:lumMod val="105000"/>
                    <a:satMod val="109000"/>
                    <a:tint val="81000"/>
                  </a:schemeClr>
                </a:gs>
              </a:gsLst>
              <a:lin ang="5400000" scaled="0"/>
            </a:gradFill>
            <a:ln w="9525" cap="flat" cmpd="sng" algn="ctr">
              <a:solidFill>
                <a:schemeClr val="accent1">
                  <a:shade val="76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greater20s!$F$8</c:f>
              <c:numCache>
                <c:formatCode>General</c:formatCode>
                <c:ptCount val="1"/>
                <c:pt idx="0">
                  <c:v>93.18</c:v>
                </c:pt>
              </c:numCache>
            </c:numRef>
          </c:val>
          <c:extLst>
            <c:ext xmlns:c16="http://schemas.microsoft.com/office/drawing/2014/chart" uri="{C3380CC4-5D6E-409C-BE32-E72D297353CC}">
              <c16:uniqueId val="{00000006-0AC5-4F2B-B427-11F90F5B99B3}"/>
            </c:ext>
          </c:extLst>
        </c:ser>
        <c:ser>
          <c:idx val="7"/>
          <c:order val="7"/>
          <c:tx>
            <c:strRef>
              <c:f>greater20s!$A$9:$C$9</c:f>
              <c:strCache>
                <c:ptCount val="3"/>
                <c:pt idx="0">
                  <c:v>R015</c:v>
                </c:pt>
                <c:pt idx="1">
                  <c:v>Amsterdam</c:v>
                </c:pt>
                <c:pt idx="2">
                  <c:v>Istanbul</c:v>
                </c:pt>
              </c:strCache>
            </c:strRef>
          </c:tx>
          <c:spPr>
            <a:gradFill rotWithShape="1">
              <a:gsLst>
                <a:gs pos="0">
                  <a:schemeClr val="accent1">
                    <a:shade val="83000"/>
                    <a:lumMod val="110000"/>
                    <a:satMod val="105000"/>
                    <a:tint val="67000"/>
                  </a:schemeClr>
                </a:gs>
                <a:gs pos="50000">
                  <a:schemeClr val="accent1">
                    <a:shade val="83000"/>
                    <a:lumMod val="105000"/>
                    <a:satMod val="103000"/>
                    <a:tint val="73000"/>
                  </a:schemeClr>
                </a:gs>
                <a:gs pos="100000">
                  <a:schemeClr val="accent1">
                    <a:shade val="83000"/>
                    <a:lumMod val="105000"/>
                    <a:satMod val="109000"/>
                    <a:tint val="81000"/>
                  </a:schemeClr>
                </a:gs>
              </a:gsLst>
              <a:lin ang="5400000" scaled="0"/>
            </a:gradFill>
            <a:ln w="9525" cap="flat" cmpd="sng" algn="ctr">
              <a:solidFill>
                <a:schemeClr val="accent1">
                  <a:shade val="83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greater20s!$F$9</c:f>
              <c:numCache>
                <c:formatCode>General</c:formatCode>
                <c:ptCount val="1"/>
                <c:pt idx="0">
                  <c:v>92.86</c:v>
                </c:pt>
              </c:numCache>
            </c:numRef>
          </c:val>
          <c:extLst>
            <c:ext xmlns:c16="http://schemas.microsoft.com/office/drawing/2014/chart" uri="{C3380CC4-5D6E-409C-BE32-E72D297353CC}">
              <c16:uniqueId val="{00000007-0AC5-4F2B-B427-11F90F5B99B3}"/>
            </c:ext>
          </c:extLst>
        </c:ser>
        <c:ser>
          <c:idx val="8"/>
          <c:order val="8"/>
          <c:tx>
            <c:strRef>
              <c:f>greater20s!$A$10:$C$10</c:f>
              <c:strCache>
                <c:ptCount val="3"/>
                <c:pt idx="0">
                  <c:v>R009</c:v>
                </c:pt>
                <c:pt idx="1">
                  <c:v>Toronto</c:v>
                </c:pt>
                <c:pt idx="2">
                  <c:v>Seoul</c:v>
                </c:pt>
              </c:strCache>
            </c:strRef>
          </c:tx>
          <c:spPr>
            <a:gradFill rotWithShape="1">
              <a:gsLst>
                <a:gs pos="0">
                  <a:schemeClr val="accent1">
                    <a:shade val="90000"/>
                    <a:lumMod val="110000"/>
                    <a:satMod val="105000"/>
                    <a:tint val="67000"/>
                  </a:schemeClr>
                </a:gs>
                <a:gs pos="50000">
                  <a:schemeClr val="accent1">
                    <a:shade val="90000"/>
                    <a:lumMod val="105000"/>
                    <a:satMod val="103000"/>
                    <a:tint val="73000"/>
                  </a:schemeClr>
                </a:gs>
                <a:gs pos="100000">
                  <a:schemeClr val="accent1">
                    <a:shade val="90000"/>
                    <a:lumMod val="105000"/>
                    <a:satMod val="109000"/>
                    <a:tint val="81000"/>
                  </a:schemeClr>
                </a:gs>
              </a:gsLst>
              <a:lin ang="5400000" scaled="0"/>
            </a:gradFill>
            <a:ln w="9525" cap="flat" cmpd="sng" algn="ctr">
              <a:solidFill>
                <a:schemeClr val="accent1">
                  <a:shade val="90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greater20s!$F$10</c:f>
              <c:numCache>
                <c:formatCode>General</c:formatCode>
                <c:ptCount val="1"/>
                <c:pt idx="0">
                  <c:v>92.11</c:v>
                </c:pt>
              </c:numCache>
            </c:numRef>
          </c:val>
          <c:extLst>
            <c:ext xmlns:c16="http://schemas.microsoft.com/office/drawing/2014/chart" uri="{C3380CC4-5D6E-409C-BE32-E72D297353CC}">
              <c16:uniqueId val="{00000008-0AC5-4F2B-B427-11F90F5B99B3}"/>
            </c:ext>
          </c:extLst>
        </c:ser>
        <c:ser>
          <c:idx val="9"/>
          <c:order val="9"/>
          <c:tx>
            <c:strRef>
              <c:f>greater20s!$A$11:$C$11</c:f>
              <c:strCache>
                <c:ptCount val="3"/>
                <c:pt idx="0">
                  <c:v>R013</c:v>
                </c:pt>
                <c:pt idx="1">
                  <c:v>Tokyo</c:v>
                </c:pt>
                <c:pt idx="2">
                  <c:v>Sao Paulo</c:v>
                </c:pt>
              </c:strCache>
            </c:strRef>
          </c:tx>
          <c:spPr>
            <a:gradFill rotWithShape="1">
              <a:gsLst>
                <a:gs pos="0">
                  <a:schemeClr val="accent1">
                    <a:shade val="96000"/>
                    <a:lumMod val="110000"/>
                    <a:satMod val="105000"/>
                    <a:tint val="67000"/>
                  </a:schemeClr>
                </a:gs>
                <a:gs pos="50000">
                  <a:schemeClr val="accent1">
                    <a:shade val="96000"/>
                    <a:lumMod val="105000"/>
                    <a:satMod val="103000"/>
                    <a:tint val="73000"/>
                  </a:schemeClr>
                </a:gs>
                <a:gs pos="100000">
                  <a:schemeClr val="accent1">
                    <a:shade val="96000"/>
                    <a:lumMod val="105000"/>
                    <a:satMod val="109000"/>
                    <a:tint val="81000"/>
                  </a:schemeClr>
                </a:gs>
              </a:gsLst>
              <a:lin ang="5400000" scaled="0"/>
            </a:gradFill>
            <a:ln w="9525" cap="flat" cmpd="sng" algn="ctr">
              <a:solidFill>
                <a:schemeClr val="accent1">
                  <a:shade val="96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greater20s!$F$11</c:f>
              <c:numCache>
                <c:formatCode>General</c:formatCode>
                <c:ptCount val="1"/>
                <c:pt idx="0">
                  <c:v>92</c:v>
                </c:pt>
              </c:numCache>
            </c:numRef>
          </c:val>
          <c:extLst>
            <c:ext xmlns:c16="http://schemas.microsoft.com/office/drawing/2014/chart" uri="{C3380CC4-5D6E-409C-BE32-E72D297353CC}">
              <c16:uniqueId val="{00000009-0AC5-4F2B-B427-11F90F5B99B3}"/>
            </c:ext>
          </c:extLst>
        </c:ser>
        <c:ser>
          <c:idx val="10"/>
          <c:order val="10"/>
          <c:tx>
            <c:strRef>
              <c:f>greater20s!$A$12:$C$12</c:f>
              <c:strCache>
                <c:ptCount val="3"/>
                <c:pt idx="0">
                  <c:v>R016</c:v>
                </c:pt>
                <c:pt idx="1">
                  <c:v>Brussels</c:v>
                </c:pt>
                <c:pt idx="2">
                  <c:v>Mumbai</c:v>
                </c:pt>
              </c:strCache>
            </c:strRef>
          </c:tx>
          <c:spPr>
            <a:gradFill rotWithShape="1">
              <a:gsLst>
                <a:gs pos="0">
                  <a:schemeClr val="accent1">
                    <a:tint val="97000"/>
                    <a:lumMod val="110000"/>
                    <a:satMod val="105000"/>
                    <a:tint val="67000"/>
                  </a:schemeClr>
                </a:gs>
                <a:gs pos="50000">
                  <a:schemeClr val="accent1">
                    <a:tint val="97000"/>
                    <a:lumMod val="105000"/>
                    <a:satMod val="103000"/>
                    <a:tint val="73000"/>
                  </a:schemeClr>
                </a:gs>
                <a:gs pos="100000">
                  <a:schemeClr val="accent1">
                    <a:tint val="97000"/>
                    <a:lumMod val="105000"/>
                    <a:satMod val="109000"/>
                    <a:tint val="81000"/>
                  </a:schemeClr>
                </a:gs>
              </a:gsLst>
              <a:lin ang="5400000" scaled="0"/>
            </a:gradFill>
            <a:ln w="9525" cap="flat" cmpd="sng" algn="ctr">
              <a:solidFill>
                <a:schemeClr val="accent1">
                  <a:tint val="97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greater20s!$F$12</c:f>
              <c:numCache>
                <c:formatCode>General</c:formatCode>
                <c:ptCount val="1"/>
                <c:pt idx="0">
                  <c:v>91.55</c:v>
                </c:pt>
              </c:numCache>
            </c:numRef>
          </c:val>
          <c:extLst>
            <c:ext xmlns:c16="http://schemas.microsoft.com/office/drawing/2014/chart" uri="{C3380CC4-5D6E-409C-BE32-E72D297353CC}">
              <c16:uniqueId val="{0000000A-0AC5-4F2B-B427-11F90F5B99B3}"/>
            </c:ext>
          </c:extLst>
        </c:ser>
        <c:ser>
          <c:idx val="11"/>
          <c:order val="11"/>
          <c:tx>
            <c:strRef>
              <c:f>greater20s!$A$13:$C$13</c:f>
              <c:strCache>
                <c:ptCount val="3"/>
                <c:pt idx="0">
                  <c:v>R003</c:v>
                </c:pt>
                <c:pt idx="1">
                  <c:v>Singapore</c:v>
                </c:pt>
                <c:pt idx="2">
                  <c:v>Hong Kong</c:v>
                </c:pt>
              </c:strCache>
            </c:strRef>
          </c:tx>
          <c:spPr>
            <a:gradFill rotWithShape="1">
              <a:gsLst>
                <a:gs pos="0">
                  <a:schemeClr val="accent1">
                    <a:tint val="90000"/>
                    <a:lumMod val="110000"/>
                    <a:satMod val="105000"/>
                    <a:tint val="67000"/>
                  </a:schemeClr>
                </a:gs>
                <a:gs pos="50000">
                  <a:schemeClr val="accent1">
                    <a:tint val="90000"/>
                    <a:lumMod val="105000"/>
                    <a:satMod val="103000"/>
                    <a:tint val="73000"/>
                  </a:schemeClr>
                </a:gs>
                <a:gs pos="100000">
                  <a:schemeClr val="accent1">
                    <a:tint val="90000"/>
                    <a:lumMod val="105000"/>
                    <a:satMod val="109000"/>
                    <a:tint val="81000"/>
                  </a:schemeClr>
                </a:gs>
              </a:gsLst>
              <a:lin ang="5400000" scaled="0"/>
            </a:gradFill>
            <a:ln w="9525" cap="flat" cmpd="sng" algn="ctr">
              <a:solidFill>
                <a:schemeClr val="accent1">
                  <a:tint val="90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greater20s!$F$13</c:f>
              <c:numCache>
                <c:formatCode>General</c:formatCode>
                <c:ptCount val="1"/>
                <c:pt idx="0">
                  <c:v>91.18</c:v>
                </c:pt>
              </c:numCache>
            </c:numRef>
          </c:val>
          <c:extLst>
            <c:ext xmlns:c16="http://schemas.microsoft.com/office/drawing/2014/chart" uri="{C3380CC4-5D6E-409C-BE32-E72D297353CC}">
              <c16:uniqueId val="{0000000B-0AC5-4F2B-B427-11F90F5B99B3}"/>
            </c:ext>
          </c:extLst>
        </c:ser>
        <c:ser>
          <c:idx val="12"/>
          <c:order val="12"/>
          <c:tx>
            <c:strRef>
              <c:f>greater20s!$A$14:$C$14</c:f>
              <c:strCache>
                <c:ptCount val="3"/>
                <c:pt idx="0">
                  <c:v>R006</c:v>
                </c:pt>
                <c:pt idx="1">
                  <c:v>Frankfurt</c:v>
                </c:pt>
                <c:pt idx="2">
                  <c:v>Chicago</c:v>
                </c:pt>
              </c:strCache>
            </c:strRef>
          </c:tx>
          <c:spPr>
            <a:gradFill rotWithShape="1">
              <a:gsLst>
                <a:gs pos="0">
                  <a:schemeClr val="accent1">
                    <a:tint val="84000"/>
                    <a:lumMod val="110000"/>
                    <a:satMod val="105000"/>
                    <a:tint val="67000"/>
                  </a:schemeClr>
                </a:gs>
                <a:gs pos="50000">
                  <a:schemeClr val="accent1">
                    <a:tint val="84000"/>
                    <a:lumMod val="105000"/>
                    <a:satMod val="103000"/>
                    <a:tint val="73000"/>
                  </a:schemeClr>
                </a:gs>
                <a:gs pos="100000">
                  <a:schemeClr val="accent1">
                    <a:tint val="84000"/>
                    <a:lumMod val="105000"/>
                    <a:satMod val="109000"/>
                    <a:tint val="81000"/>
                  </a:schemeClr>
                </a:gs>
              </a:gsLst>
              <a:lin ang="5400000" scaled="0"/>
            </a:gradFill>
            <a:ln w="9525" cap="flat" cmpd="sng" algn="ctr">
              <a:solidFill>
                <a:schemeClr val="accent1">
                  <a:tint val="84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greater20s!$F$14</c:f>
              <c:numCache>
                <c:formatCode>General</c:formatCode>
                <c:ptCount val="1"/>
                <c:pt idx="0">
                  <c:v>91.07</c:v>
                </c:pt>
              </c:numCache>
            </c:numRef>
          </c:val>
          <c:extLst>
            <c:ext xmlns:c16="http://schemas.microsoft.com/office/drawing/2014/chart" uri="{C3380CC4-5D6E-409C-BE32-E72D297353CC}">
              <c16:uniqueId val="{0000000C-0AC5-4F2B-B427-11F90F5B99B3}"/>
            </c:ext>
          </c:extLst>
        </c:ser>
        <c:ser>
          <c:idx val="13"/>
          <c:order val="13"/>
          <c:tx>
            <c:strRef>
              <c:f>greater20s!$A$15:$C$15</c:f>
              <c:strCache>
                <c:ptCount val="3"/>
                <c:pt idx="0">
                  <c:v>R018</c:v>
                </c:pt>
                <c:pt idx="1">
                  <c:v>Sao Paulo</c:v>
                </c:pt>
                <c:pt idx="2">
                  <c:v>Memphis</c:v>
                </c:pt>
              </c:strCache>
            </c:strRef>
          </c:tx>
          <c:spPr>
            <a:gradFill rotWithShape="1">
              <a:gsLst>
                <a:gs pos="0">
                  <a:schemeClr val="accent1">
                    <a:tint val="77000"/>
                    <a:lumMod val="110000"/>
                    <a:satMod val="105000"/>
                    <a:tint val="67000"/>
                  </a:schemeClr>
                </a:gs>
                <a:gs pos="50000">
                  <a:schemeClr val="accent1">
                    <a:tint val="77000"/>
                    <a:lumMod val="105000"/>
                    <a:satMod val="103000"/>
                    <a:tint val="73000"/>
                  </a:schemeClr>
                </a:gs>
                <a:gs pos="100000">
                  <a:schemeClr val="accent1">
                    <a:tint val="77000"/>
                    <a:lumMod val="105000"/>
                    <a:satMod val="109000"/>
                    <a:tint val="81000"/>
                  </a:schemeClr>
                </a:gs>
              </a:gsLst>
              <a:lin ang="5400000" scaled="0"/>
            </a:gradFill>
            <a:ln w="9525" cap="flat" cmpd="sng" algn="ctr">
              <a:solidFill>
                <a:schemeClr val="accent1">
                  <a:tint val="77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greater20s!$F$15</c:f>
              <c:numCache>
                <c:formatCode>General</c:formatCode>
                <c:ptCount val="1"/>
                <c:pt idx="0">
                  <c:v>88.14</c:v>
                </c:pt>
              </c:numCache>
            </c:numRef>
          </c:val>
          <c:extLst>
            <c:ext xmlns:c16="http://schemas.microsoft.com/office/drawing/2014/chart" uri="{C3380CC4-5D6E-409C-BE32-E72D297353CC}">
              <c16:uniqueId val="{0000000D-0AC5-4F2B-B427-11F90F5B99B3}"/>
            </c:ext>
          </c:extLst>
        </c:ser>
        <c:ser>
          <c:idx val="14"/>
          <c:order val="14"/>
          <c:tx>
            <c:strRef>
              <c:f>greater20s!$A$16:$C$16</c:f>
              <c:strCache>
                <c:ptCount val="3"/>
                <c:pt idx="0">
                  <c:v>R020</c:v>
                </c:pt>
                <c:pt idx="1">
                  <c:v>Istanbul</c:v>
                </c:pt>
                <c:pt idx="2">
                  <c:v>Singapore</c:v>
                </c:pt>
              </c:strCache>
            </c:strRef>
          </c:tx>
          <c:spPr>
            <a:gradFill rotWithShape="1">
              <a:gsLst>
                <a:gs pos="0">
                  <a:schemeClr val="accent1">
                    <a:tint val="70000"/>
                    <a:lumMod val="110000"/>
                    <a:satMod val="105000"/>
                    <a:tint val="67000"/>
                  </a:schemeClr>
                </a:gs>
                <a:gs pos="50000">
                  <a:schemeClr val="accent1">
                    <a:tint val="70000"/>
                    <a:lumMod val="105000"/>
                    <a:satMod val="103000"/>
                    <a:tint val="73000"/>
                  </a:schemeClr>
                </a:gs>
                <a:gs pos="100000">
                  <a:schemeClr val="accent1">
                    <a:tint val="70000"/>
                    <a:lumMod val="105000"/>
                    <a:satMod val="109000"/>
                    <a:tint val="81000"/>
                  </a:schemeClr>
                </a:gs>
              </a:gsLst>
              <a:lin ang="5400000" scaled="0"/>
            </a:gradFill>
            <a:ln w="9525" cap="flat" cmpd="sng" algn="ctr">
              <a:solidFill>
                <a:schemeClr val="accent1">
                  <a:tint val="70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greater20s!$F$16</c:f>
              <c:numCache>
                <c:formatCode>General</c:formatCode>
                <c:ptCount val="1"/>
                <c:pt idx="0">
                  <c:v>88.1</c:v>
                </c:pt>
              </c:numCache>
            </c:numRef>
          </c:val>
          <c:extLst>
            <c:ext xmlns:c16="http://schemas.microsoft.com/office/drawing/2014/chart" uri="{C3380CC4-5D6E-409C-BE32-E72D297353CC}">
              <c16:uniqueId val="{0000000E-0AC5-4F2B-B427-11F90F5B99B3}"/>
            </c:ext>
          </c:extLst>
        </c:ser>
        <c:ser>
          <c:idx val="15"/>
          <c:order val="15"/>
          <c:tx>
            <c:strRef>
              <c:f>greater20s!$A$17:$C$17</c:f>
              <c:strCache>
                <c:ptCount val="3"/>
                <c:pt idx="0">
                  <c:v>R011</c:v>
                </c:pt>
                <c:pt idx="1">
                  <c:v>Chicago</c:v>
                </c:pt>
                <c:pt idx="2">
                  <c:v>Brussels</c:v>
                </c:pt>
              </c:strCache>
            </c:strRef>
          </c:tx>
          <c:spPr>
            <a:gradFill rotWithShape="1">
              <a:gsLst>
                <a:gs pos="0">
                  <a:schemeClr val="accent1">
                    <a:tint val="64000"/>
                    <a:lumMod val="110000"/>
                    <a:satMod val="105000"/>
                    <a:tint val="67000"/>
                  </a:schemeClr>
                </a:gs>
                <a:gs pos="50000">
                  <a:schemeClr val="accent1">
                    <a:tint val="64000"/>
                    <a:lumMod val="105000"/>
                    <a:satMod val="103000"/>
                    <a:tint val="73000"/>
                  </a:schemeClr>
                </a:gs>
                <a:gs pos="100000">
                  <a:schemeClr val="accent1">
                    <a:tint val="64000"/>
                    <a:lumMod val="105000"/>
                    <a:satMod val="109000"/>
                    <a:tint val="81000"/>
                  </a:schemeClr>
                </a:gs>
              </a:gsLst>
              <a:lin ang="5400000" scaled="0"/>
            </a:gradFill>
            <a:ln w="9525" cap="flat" cmpd="sng" algn="ctr">
              <a:solidFill>
                <a:schemeClr val="accent1">
                  <a:tint val="64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greater20s!$F$17</c:f>
              <c:numCache>
                <c:formatCode>General</c:formatCode>
                <c:ptCount val="1"/>
                <c:pt idx="0">
                  <c:v>87.5</c:v>
                </c:pt>
              </c:numCache>
            </c:numRef>
          </c:val>
          <c:extLst>
            <c:ext xmlns:c16="http://schemas.microsoft.com/office/drawing/2014/chart" uri="{C3380CC4-5D6E-409C-BE32-E72D297353CC}">
              <c16:uniqueId val="{0000000F-0AC5-4F2B-B427-11F90F5B99B3}"/>
            </c:ext>
          </c:extLst>
        </c:ser>
        <c:ser>
          <c:idx val="16"/>
          <c:order val="16"/>
          <c:tx>
            <c:strRef>
              <c:f>greater20s!$A$18:$C$18</c:f>
              <c:strCache>
                <c:ptCount val="3"/>
                <c:pt idx="0">
                  <c:v>R017</c:v>
                </c:pt>
                <c:pt idx="1">
                  <c:v>Madrid</c:v>
                </c:pt>
                <c:pt idx="2">
                  <c:v>Mexico City</c:v>
                </c:pt>
              </c:strCache>
            </c:strRef>
          </c:tx>
          <c:spPr>
            <a:gradFill rotWithShape="1">
              <a:gsLst>
                <a:gs pos="0">
                  <a:schemeClr val="accent1">
                    <a:tint val="57000"/>
                    <a:lumMod val="110000"/>
                    <a:satMod val="105000"/>
                    <a:tint val="67000"/>
                  </a:schemeClr>
                </a:gs>
                <a:gs pos="50000">
                  <a:schemeClr val="accent1">
                    <a:tint val="57000"/>
                    <a:lumMod val="105000"/>
                    <a:satMod val="103000"/>
                    <a:tint val="73000"/>
                  </a:schemeClr>
                </a:gs>
                <a:gs pos="100000">
                  <a:schemeClr val="accent1">
                    <a:tint val="57000"/>
                    <a:lumMod val="105000"/>
                    <a:satMod val="109000"/>
                    <a:tint val="81000"/>
                  </a:schemeClr>
                </a:gs>
              </a:gsLst>
              <a:lin ang="5400000" scaled="0"/>
            </a:gradFill>
            <a:ln w="9525" cap="flat" cmpd="sng" algn="ctr">
              <a:solidFill>
                <a:schemeClr val="accent1">
                  <a:tint val="57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greater20s!$F$18</c:f>
              <c:numCache>
                <c:formatCode>General</c:formatCode>
                <c:ptCount val="1"/>
                <c:pt idx="0">
                  <c:v>86.79</c:v>
                </c:pt>
              </c:numCache>
            </c:numRef>
          </c:val>
          <c:extLst>
            <c:ext xmlns:c16="http://schemas.microsoft.com/office/drawing/2014/chart" uri="{C3380CC4-5D6E-409C-BE32-E72D297353CC}">
              <c16:uniqueId val="{00000010-0AC5-4F2B-B427-11F90F5B99B3}"/>
            </c:ext>
          </c:extLst>
        </c:ser>
        <c:ser>
          <c:idx val="17"/>
          <c:order val="17"/>
          <c:tx>
            <c:strRef>
              <c:f>greater20s!$A$19:$C$19</c:f>
              <c:strCache>
                <c:ptCount val="3"/>
                <c:pt idx="0">
                  <c:v>R004</c:v>
                </c:pt>
                <c:pt idx="1">
                  <c:v>Paris</c:v>
                </c:pt>
                <c:pt idx="2">
                  <c:v>Toronto</c:v>
                </c:pt>
              </c:strCache>
            </c:strRef>
          </c:tx>
          <c:spPr>
            <a:gradFill rotWithShape="1">
              <a:gsLst>
                <a:gs pos="0">
                  <a:schemeClr val="accent1">
                    <a:tint val="50000"/>
                    <a:lumMod val="110000"/>
                    <a:satMod val="105000"/>
                    <a:tint val="67000"/>
                  </a:schemeClr>
                </a:gs>
                <a:gs pos="50000">
                  <a:schemeClr val="accent1">
                    <a:tint val="50000"/>
                    <a:lumMod val="105000"/>
                    <a:satMod val="103000"/>
                    <a:tint val="73000"/>
                  </a:schemeClr>
                </a:gs>
                <a:gs pos="100000">
                  <a:schemeClr val="accent1">
                    <a:tint val="50000"/>
                    <a:lumMod val="105000"/>
                    <a:satMod val="109000"/>
                    <a:tint val="81000"/>
                  </a:schemeClr>
                </a:gs>
              </a:gsLst>
              <a:lin ang="5400000" scaled="0"/>
            </a:gradFill>
            <a:ln w="9525" cap="flat" cmpd="sng" algn="ctr">
              <a:solidFill>
                <a:schemeClr val="accent1">
                  <a:tint val="50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greater20s!$F$19</c:f>
              <c:numCache>
                <c:formatCode>General</c:formatCode>
                <c:ptCount val="1"/>
                <c:pt idx="0">
                  <c:v>85.71</c:v>
                </c:pt>
              </c:numCache>
            </c:numRef>
          </c:val>
          <c:extLst>
            <c:ext xmlns:c16="http://schemas.microsoft.com/office/drawing/2014/chart" uri="{C3380CC4-5D6E-409C-BE32-E72D297353CC}">
              <c16:uniqueId val="{00000011-0AC5-4F2B-B427-11F90F5B99B3}"/>
            </c:ext>
          </c:extLst>
        </c:ser>
        <c:ser>
          <c:idx val="18"/>
          <c:order val="18"/>
          <c:tx>
            <c:strRef>
              <c:f>greater20s!$A$20:$C$20</c:f>
              <c:strCache>
                <c:ptCount val="3"/>
                <c:pt idx="0">
                  <c:v>R001</c:v>
                </c:pt>
                <c:pt idx="1">
                  <c:v>Memphis</c:v>
                </c:pt>
                <c:pt idx="2">
                  <c:v>Frankfurt</c:v>
                </c:pt>
              </c:strCache>
            </c:strRef>
          </c:tx>
          <c:spPr>
            <a:gradFill rotWithShape="1">
              <a:gsLst>
                <a:gs pos="0">
                  <a:schemeClr val="accent1">
                    <a:tint val="44000"/>
                    <a:lumMod val="110000"/>
                    <a:satMod val="105000"/>
                    <a:tint val="67000"/>
                  </a:schemeClr>
                </a:gs>
                <a:gs pos="50000">
                  <a:schemeClr val="accent1">
                    <a:tint val="44000"/>
                    <a:lumMod val="105000"/>
                    <a:satMod val="103000"/>
                    <a:tint val="73000"/>
                  </a:schemeClr>
                </a:gs>
                <a:gs pos="100000">
                  <a:schemeClr val="accent1">
                    <a:tint val="44000"/>
                    <a:lumMod val="105000"/>
                    <a:satMod val="109000"/>
                    <a:tint val="81000"/>
                  </a:schemeClr>
                </a:gs>
              </a:gsLst>
              <a:lin ang="5400000" scaled="0"/>
            </a:gradFill>
            <a:ln w="9525" cap="flat" cmpd="sng" algn="ctr">
              <a:solidFill>
                <a:schemeClr val="accent1">
                  <a:tint val="44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greater20s!$F$20</c:f>
              <c:numCache>
                <c:formatCode>General</c:formatCode>
                <c:ptCount val="1"/>
                <c:pt idx="0">
                  <c:v>81.819999999999993</c:v>
                </c:pt>
              </c:numCache>
            </c:numRef>
          </c:val>
          <c:extLst>
            <c:ext xmlns:c16="http://schemas.microsoft.com/office/drawing/2014/chart" uri="{C3380CC4-5D6E-409C-BE32-E72D297353CC}">
              <c16:uniqueId val="{00000012-0AC5-4F2B-B427-11F90F5B99B3}"/>
            </c:ext>
          </c:extLst>
        </c:ser>
        <c:ser>
          <c:idx val="19"/>
          <c:order val="19"/>
          <c:tx>
            <c:strRef>
              <c:f>greater20s!$A$21:$C$21</c:f>
              <c:strCache>
                <c:ptCount val="3"/>
                <c:pt idx="0">
                  <c:v>R014</c:v>
                </c:pt>
                <c:pt idx="1">
                  <c:v>Seoul</c:v>
                </c:pt>
                <c:pt idx="2">
                  <c:v>Johannesburg</c:v>
                </c:pt>
              </c:strCache>
            </c:strRef>
          </c:tx>
          <c:spPr>
            <a:gradFill rotWithShape="1">
              <a:gsLst>
                <a:gs pos="0">
                  <a:schemeClr val="accent1">
                    <a:tint val="37000"/>
                    <a:lumMod val="110000"/>
                    <a:satMod val="105000"/>
                    <a:tint val="67000"/>
                  </a:schemeClr>
                </a:gs>
                <a:gs pos="50000">
                  <a:schemeClr val="accent1">
                    <a:tint val="37000"/>
                    <a:lumMod val="105000"/>
                    <a:satMod val="103000"/>
                    <a:tint val="73000"/>
                  </a:schemeClr>
                </a:gs>
                <a:gs pos="100000">
                  <a:schemeClr val="accent1">
                    <a:tint val="37000"/>
                    <a:lumMod val="105000"/>
                    <a:satMod val="109000"/>
                    <a:tint val="81000"/>
                  </a:schemeClr>
                </a:gs>
              </a:gsLst>
              <a:lin ang="5400000" scaled="0"/>
            </a:gradFill>
            <a:ln w="9525" cap="flat" cmpd="sng" algn="ctr">
              <a:solidFill>
                <a:schemeClr val="accent1">
                  <a:tint val="37000"/>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greater20s!$F$1</c:f>
              <c:strCache>
                <c:ptCount val="1"/>
                <c:pt idx="0">
                  <c:v>Percent Delayed</c:v>
                </c:pt>
              </c:strCache>
            </c:strRef>
          </c:cat>
          <c:val>
            <c:numRef>
              <c:f>greater20s!$F$21</c:f>
              <c:numCache>
                <c:formatCode>General</c:formatCode>
                <c:ptCount val="1"/>
                <c:pt idx="0">
                  <c:v>81.13</c:v>
                </c:pt>
              </c:numCache>
            </c:numRef>
          </c:val>
          <c:extLst>
            <c:ext xmlns:c16="http://schemas.microsoft.com/office/drawing/2014/chart" uri="{C3380CC4-5D6E-409C-BE32-E72D297353CC}">
              <c16:uniqueId val="{00000013-0AC5-4F2B-B427-11F90F5B99B3}"/>
            </c:ext>
          </c:extLst>
        </c:ser>
        <c:dLbls>
          <c:dLblPos val="outEnd"/>
          <c:showLegendKey val="0"/>
          <c:showVal val="1"/>
          <c:showCatName val="0"/>
          <c:showSerName val="0"/>
          <c:showPercent val="0"/>
          <c:showBubbleSize val="0"/>
        </c:dLbls>
        <c:gapWidth val="100"/>
        <c:overlap val="-24"/>
        <c:axId val="262428223"/>
        <c:axId val="262426783"/>
      </c:barChart>
      <c:catAx>
        <c:axId val="2624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262426783"/>
        <c:crosses val="autoZero"/>
        <c:auto val="1"/>
        <c:lblAlgn val="ctr"/>
        <c:lblOffset val="100"/>
        <c:noMultiLvlLbl val="0"/>
      </c:catAx>
      <c:valAx>
        <c:axId val="2624267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50000"/>
                        <a:lumOff val="50000"/>
                      </a:schemeClr>
                    </a:solidFill>
                    <a:latin typeface="+mn-lt"/>
                    <a:ea typeface="+mn-ea"/>
                    <a:cs typeface="+mn-cs"/>
                  </a:defRPr>
                </a:pPr>
                <a:r>
                  <a:rPr lang="en-US" dirty="0"/>
                  <a:t>Percentage of shipment</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2624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Top 3 </a:t>
            </a:r>
            <a:r>
              <a:rPr lang="en-US" dirty="0" err="1"/>
              <a:t>WareHouses</a:t>
            </a:r>
            <a:r>
              <a:rPr lang="en-US" dirty="0"/>
              <a:t> with highest AVG Delay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'top 3 warehouses with delay'!$B$1</c:f>
              <c:strCache>
                <c:ptCount val="1"/>
                <c:pt idx="0">
                  <c:v>AVG_Delay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'top 3 warehouses with delay'!$A$2:$A$4</c:f>
              <c:strCache>
                <c:ptCount val="3"/>
                <c:pt idx="0">
                  <c:v>W003</c:v>
                </c:pt>
                <c:pt idx="1">
                  <c:v>W004</c:v>
                </c:pt>
                <c:pt idx="2">
                  <c:v>W008</c:v>
                </c:pt>
              </c:strCache>
            </c:strRef>
          </c:cat>
          <c:val>
            <c:numRef>
              <c:f>'top 3 warehouses with delay'!$B$2:$B$4</c:f>
              <c:numCache>
                <c:formatCode>General</c:formatCode>
                <c:ptCount val="3"/>
                <c:pt idx="0">
                  <c:v>26</c:v>
                </c:pt>
                <c:pt idx="1">
                  <c:v>26</c:v>
                </c:pt>
                <c:pt idx="2">
                  <c:v>24</c:v>
                </c:pt>
              </c:numCache>
            </c:numRef>
          </c:val>
          <c:extLst>
            <c:ext xmlns:c16="http://schemas.microsoft.com/office/drawing/2014/chart" uri="{C3380CC4-5D6E-409C-BE32-E72D297353CC}">
              <c16:uniqueId val="{00000000-B316-4EB0-BDDC-DB3C1C536B9A}"/>
            </c:ext>
          </c:extLst>
        </c:ser>
        <c:dLbls>
          <c:dLblPos val="outEnd"/>
          <c:showLegendKey val="0"/>
          <c:showVal val="1"/>
          <c:showCatName val="0"/>
          <c:showSerName val="0"/>
          <c:showPercent val="0"/>
          <c:showBubbleSize val="0"/>
        </c:dLbls>
        <c:gapWidth val="219"/>
        <c:overlap val="-27"/>
        <c:axId val="1673710495"/>
        <c:axId val="1673709055"/>
      </c:barChart>
      <c:catAx>
        <c:axId val="1673710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73709055"/>
        <c:crosses val="autoZero"/>
        <c:auto val="1"/>
        <c:lblAlgn val="ctr"/>
        <c:lblOffset val="100"/>
        <c:noMultiLvlLbl val="0"/>
      </c:catAx>
      <c:valAx>
        <c:axId val="16737090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737104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Total vs Delayed Shipments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'total shipments vs delayed ship'!$B$1</c:f>
              <c:strCache>
                <c:ptCount val="1"/>
                <c:pt idx="0">
                  <c:v>total_shipments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'total shipments vs delayed ship'!$A$2:$A$11</c:f>
              <c:strCache>
                <c:ptCount val="10"/>
                <c:pt idx="0">
                  <c:v>W008</c:v>
                </c:pt>
                <c:pt idx="1">
                  <c:v>W003</c:v>
                </c:pt>
                <c:pt idx="2">
                  <c:v>W001</c:v>
                </c:pt>
                <c:pt idx="3">
                  <c:v>W005</c:v>
                </c:pt>
                <c:pt idx="4">
                  <c:v>W010</c:v>
                </c:pt>
                <c:pt idx="5">
                  <c:v>W007</c:v>
                </c:pt>
                <c:pt idx="6">
                  <c:v>W006</c:v>
                </c:pt>
                <c:pt idx="7">
                  <c:v>W002</c:v>
                </c:pt>
                <c:pt idx="8">
                  <c:v>W004</c:v>
                </c:pt>
                <c:pt idx="9">
                  <c:v>W009</c:v>
                </c:pt>
              </c:strCache>
            </c:strRef>
          </c:cat>
          <c:val>
            <c:numRef>
              <c:f>'total shipments vs delayed ship'!$B$2:$B$11</c:f>
              <c:numCache>
                <c:formatCode>General</c:formatCode>
                <c:ptCount val="10"/>
                <c:pt idx="0">
                  <c:v>112</c:v>
                </c:pt>
                <c:pt idx="1">
                  <c:v>107</c:v>
                </c:pt>
                <c:pt idx="2">
                  <c:v>103</c:v>
                </c:pt>
                <c:pt idx="3">
                  <c:v>102</c:v>
                </c:pt>
                <c:pt idx="4">
                  <c:v>103</c:v>
                </c:pt>
                <c:pt idx="5">
                  <c:v>96</c:v>
                </c:pt>
                <c:pt idx="6">
                  <c:v>99</c:v>
                </c:pt>
                <c:pt idx="7">
                  <c:v>97</c:v>
                </c:pt>
                <c:pt idx="8">
                  <c:v>90</c:v>
                </c:pt>
                <c:pt idx="9">
                  <c:v>91</c:v>
                </c:pt>
              </c:numCache>
            </c:numRef>
          </c:val>
          <c:extLst>
            <c:ext xmlns:c16="http://schemas.microsoft.com/office/drawing/2014/chart" uri="{C3380CC4-5D6E-409C-BE32-E72D297353CC}">
              <c16:uniqueId val="{00000000-A775-49F9-8A7C-E5C4411A1F08}"/>
            </c:ext>
          </c:extLst>
        </c:ser>
        <c:ser>
          <c:idx val="1"/>
          <c:order val="1"/>
          <c:tx>
            <c:strRef>
              <c:f>'total shipments vs delayed ship'!$C$1</c:f>
              <c:strCache>
                <c:ptCount val="1"/>
                <c:pt idx="0">
                  <c:v>Delay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'total shipments vs delayed ship'!$A$2:$A$11</c:f>
              <c:strCache>
                <c:ptCount val="10"/>
                <c:pt idx="0">
                  <c:v>W008</c:v>
                </c:pt>
                <c:pt idx="1">
                  <c:v>W003</c:v>
                </c:pt>
                <c:pt idx="2">
                  <c:v>W001</c:v>
                </c:pt>
                <c:pt idx="3">
                  <c:v>W005</c:v>
                </c:pt>
                <c:pt idx="4">
                  <c:v>W010</c:v>
                </c:pt>
                <c:pt idx="5">
                  <c:v>W007</c:v>
                </c:pt>
                <c:pt idx="6">
                  <c:v>W006</c:v>
                </c:pt>
                <c:pt idx="7">
                  <c:v>W002</c:v>
                </c:pt>
                <c:pt idx="8">
                  <c:v>W004</c:v>
                </c:pt>
                <c:pt idx="9">
                  <c:v>W009</c:v>
                </c:pt>
              </c:strCache>
            </c:strRef>
          </c:cat>
          <c:val>
            <c:numRef>
              <c:f>'total shipments vs delayed ship'!$C$2:$C$11</c:f>
              <c:numCache>
                <c:formatCode>General</c:formatCode>
                <c:ptCount val="10"/>
                <c:pt idx="0">
                  <c:v>100</c:v>
                </c:pt>
                <c:pt idx="1">
                  <c:v>100</c:v>
                </c:pt>
                <c:pt idx="2">
                  <c:v>96</c:v>
                </c:pt>
                <c:pt idx="3">
                  <c:v>94</c:v>
                </c:pt>
                <c:pt idx="4">
                  <c:v>94</c:v>
                </c:pt>
                <c:pt idx="5">
                  <c:v>94</c:v>
                </c:pt>
                <c:pt idx="6">
                  <c:v>94</c:v>
                </c:pt>
                <c:pt idx="7">
                  <c:v>91</c:v>
                </c:pt>
                <c:pt idx="8">
                  <c:v>85</c:v>
                </c:pt>
                <c:pt idx="9">
                  <c:v>84</c:v>
                </c:pt>
              </c:numCache>
            </c:numRef>
          </c:val>
          <c:extLst>
            <c:ext xmlns:c16="http://schemas.microsoft.com/office/drawing/2014/chart" uri="{C3380CC4-5D6E-409C-BE32-E72D297353CC}">
              <c16:uniqueId val="{00000001-A775-49F9-8A7C-E5C4411A1F08}"/>
            </c:ext>
          </c:extLst>
        </c:ser>
        <c:dLbls>
          <c:dLblPos val="outEnd"/>
          <c:showLegendKey val="0"/>
          <c:showVal val="1"/>
          <c:showCatName val="0"/>
          <c:showSerName val="0"/>
          <c:showPercent val="0"/>
          <c:showBubbleSize val="0"/>
        </c:dLbls>
        <c:gapWidth val="100"/>
        <c:overlap val="-24"/>
        <c:axId val="1852607423"/>
        <c:axId val="1852607903"/>
      </c:barChart>
      <c:catAx>
        <c:axId val="1852607423"/>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Warehouses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852607903"/>
        <c:crosses val="autoZero"/>
        <c:auto val="1"/>
        <c:lblAlgn val="ctr"/>
        <c:lblOffset val="100"/>
        <c:noMultiLvlLbl val="0"/>
      </c:catAx>
      <c:valAx>
        <c:axId val="1852607903"/>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Delay</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8526074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Warehouses Exceeding Global AVG Delay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globalaveragedelay!$B$1</c:f>
              <c:strCache>
                <c:ptCount val="1"/>
                <c:pt idx="0">
                  <c:v>avg_delay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globalaveragedelay!$A$2:$A$7</c:f>
              <c:strCache>
                <c:ptCount val="6"/>
                <c:pt idx="0">
                  <c:v>W004</c:v>
                </c:pt>
                <c:pt idx="1">
                  <c:v>W003</c:v>
                </c:pt>
                <c:pt idx="2">
                  <c:v>W008</c:v>
                </c:pt>
                <c:pt idx="3">
                  <c:v>W005</c:v>
                </c:pt>
                <c:pt idx="4">
                  <c:v>W007</c:v>
                </c:pt>
                <c:pt idx="5">
                  <c:v>W010</c:v>
                </c:pt>
              </c:strCache>
            </c:strRef>
          </c:cat>
          <c:val>
            <c:numRef>
              <c:f>globalaveragedelay!$B$2:$B$7</c:f>
              <c:numCache>
                <c:formatCode>General</c:formatCode>
                <c:ptCount val="6"/>
                <c:pt idx="0">
                  <c:v>25.88</c:v>
                </c:pt>
                <c:pt idx="1">
                  <c:v>25.54</c:v>
                </c:pt>
                <c:pt idx="2">
                  <c:v>24.35</c:v>
                </c:pt>
                <c:pt idx="3">
                  <c:v>22.43</c:v>
                </c:pt>
                <c:pt idx="4">
                  <c:v>22.06</c:v>
                </c:pt>
                <c:pt idx="5">
                  <c:v>21.8</c:v>
                </c:pt>
              </c:numCache>
            </c:numRef>
          </c:val>
          <c:extLst>
            <c:ext xmlns:c16="http://schemas.microsoft.com/office/drawing/2014/chart" uri="{C3380CC4-5D6E-409C-BE32-E72D297353CC}">
              <c16:uniqueId val="{00000000-C5F0-440A-9071-E121E016DEF0}"/>
            </c:ext>
          </c:extLst>
        </c:ser>
        <c:dLbls>
          <c:dLblPos val="outEnd"/>
          <c:showLegendKey val="0"/>
          <c:showVal val="1"/>
          <c:showCatName val="0"/>
          <c:showSerName val="0"/>
          <c:showPercent val="0"/>
          <c:showBubbleSize val="0"/>
        </c:dLbls>
        <c:gapWidth val="219"/>
        <c:overlap val="-27"/>
        <c:axId val="1525307951"/>
        <c:axId val="1525306511"/>
      </c:barChart>
      <c:catAx>
        <c:axId val="1525307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25306511"/>
        <c:crosses val="autoZero"/>
        <c:auto val="1"/>
        <c:lblAlgn val="ctr"/>
        <c:lblOffset val="100"/>
        <c:noMultiLvlLbl val="0"/>
      </c:catAx>
      <c:valAx>
        <c:axId val="15253065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2530795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On Time Deliveries Percentage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RANKEDWAREHOUSESBYDELAYONTIMEDE!$E$1</c:f>
              <c:strCache>
                <c:ptCount val="1"/>
                <c:pt idx="0">
                  <c:v>on_time_deliveries_percentage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RANKEDWAREHOUSESBYDELAYONTIMEDE!$B$2:$B$11</c:f>
              <c:strCache>
                <c:ptCount val="10"/>
                <c:pt idx="0">
                  <c:v>W010</c:v>
                </c:pt>
                <c:pt idx="1">
                  <c:v>W008</c:v>
                </c:pt>
                <c:pt idx="2">
                  <c:v>W009</c:v>
                </c:pt>
                <c:pt idx="3">
                  <c:v>W005</c:v>
                </c:pt>
                <c:pt idx="4">
                  <c:v>W001</c:v>
                </c:pt>
                <c:pt idx="5">
                  <c:v>W003</c:v>
                </c:pt>
                <c:pt idx="6">
                  <c:v>W004</c:v>
                </c:pt>
                <c:pt idx="7">
                  <c:v>W002</c:v>
                </c:pt>
                <c:pt idx="8">
                  <c:v>W006</c:v>
                </c:pt>
                <c:pt idx="9">
                  <c:v>W007</c:v>
                </c:pt>
              </c:strCache>
            </c:strRef>
          </c:cat>
          <c:val>
            <c:numRef>
              <c:f>RANKEDWAREHOUSESBYDELAYONTIMEDE!$E$2:$E$11</c:f>
              <c:numCache>
                <c:formatCode>General</c:formatCode>
                <c:ptCount val="10"/>
                <c:pt idx="0">
                  <c:v>9.2799999999999994</c:v>
                </c:pt>
                <c:pt idx="1">
                  <c:v>9.18</c:v>
                </c:pt>
                <c:pt idx="2">
                  <c:v>8.75</c:v>
                </c:pt>
                <c:pt idx="3">
                  <c:v>8.51</c:v>
                </c:pt>
                <c:pt idx="4">
                  <c:v>7.69</c:v>
                </c:pt>
                <c:pt idx="5">
                  <c:v>7</c:v>
                </c:pt>
                <c:pt idx="6">
                  <c:v>6.25</c:v>
                </c:pt>
                <c:pt idx="7">
                  <c:v>5.81</c:v>
                </c:pt>
                <c:pt idx="8">
                  <c:v>5.56</c:v>
                </c:pt>
                <c:pt idx="9">
                  <c:v>2.5299999999999998</c:v>
                </c:pt>
              </c:numCache>
            </c:numRef>
          </c:val>
          <c:extLst>
            <c:ext xmlns:c16="http://schemas.microsoft.com/office/drawing/2014/chart" uri="{C3380CC4-5D6E-409C-BE32-E72D297353CC}">
              <c16:uniqueId val="{00000000-E42D-42E4-A70E-875659963BE4}"/>
            </c:ext>
          </c:extLst>
        </c:ser>
        <c:dLbls>
          <c:dLblPos val="outEnd"/>
          <c:showLegendKey val="0"/>
          <c:showVal val="1"/>
          <c:showCatName val="0"/>
          <c:showSerName val="0"/>
          <c:showPercent val="0"/>
          <c:showBubbleSize val="0"/>
        </c:dLbls>
        <c:gapWidth val="219"/>
        <c:overlap val="-27"/>
        <c:axId val="1434489727"/>
        <c:axId val="1434485407"/>
      </c:barChart>
      <c:catAx>
        <c:axId val="143448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34485407"/>
        <c:crosses val="autoZero"/>
        <c:auto val="1"/>
        <c:lblAlgn val="ctr"/>
        <c:lblOffset val="100"/>
        <c:noMultiLvlLbl val="0"/>
      </c:catAx>
      <c:valAx>
        <c:axId val="14344854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3448972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a:t>Top 5 Agents Average Rating and Experience (In Years) </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comparisonofavgratingandexperie!$B$1</c:f>
              <c:strCache>
                <c:ptCount val="1"/>
                <c:pt idx="0">
                  <c:v>AVG_Experience_Years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comparisonofavgratingandexperie!$A$2:$A$3</c:f>
              <c:strCache>
                <c:ptCount val="2"/>
                <c:pt idx="0">
                  <c:v>Top 5</c:v>
                </c:pt>
                <c:pt idx="1">
                  <c:v>Bottom 5</c:v>
                </c:pt>
              </c:strCache>
            </c:strRef>
          </c:cat>
          <c:val>
            <c:numRef>
              <c:f>comparisonofavgratingandexperie!$B$2:$B$3</c:f>
              <c:numCache>
                <c:formatCode>General</c:formatCode>
                <c:ptCount val="2"/>
                <c:pt idx="0">
                  <c:v>2.34</c:v>
                </c:pt>
                <c:pt idx="1">
                  <c:v>2.4</c:v>
                </c:pt>
              </c:numCache>
            </c:numRef>
          </c:val>
          <c:extLst>
            <c:ext xmlns:c16="http://schemas.microsoft.com/office/drawing/2014/chart" uri="{C3380CC4-5D6E-409C-BE32-E72D297353CC}">
              <c16:uniqueId val="{00000000-5A16-4783-B038-DA1A5BECB60A}"/>
            </c:ext>
          </c:extLst>
        </c:ser>
        <c:ser>
          <c:idx val="1"/>
          <c:order val="1"/>
          <c:tx>
            <c:strRef>
              <c:f>comparisonofavgratingandexperie!$C$1</c:f>
              <c:strCache>
                <c:ptCount val="1"/>
                <c:pt idx="0">
                  <c:v>AVG_Rating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comparisonofavgratingandexperie!$A$2:$A$3</c:f>
              <c:strCache>
                <c:ptCount val="2"/>
                <c:pt idx="0">
                  <c:v>Top 5</c:v>
                </c:pt>
                <c:pt idx="1">
                  <c:v>Bottom 5</c:v>
                </c:pt>
              </c:strCache>
            </c:strRef>
          </c:cat>
          <c:val>
            <c:numRef>
              <c:f>comparisonofavgratingandexperie!$C$2:$C$3</c:f>
              <c:numCache>
                <c:formatCode>General</c:formatCode>
                <c:ptCount val="2"/>
                <c:pt idx="0">
                  <c:v>4.42</c:v>
                </c:pt>
                <c:pt idx="1">
                  <c:v>4.5199999999999996</c:v>
                </c:pt>
              </c:numCache>
            </c:numRef>
          </c:val>
          <c:extLst>
            <c:ext xmlns:c16="http://schemas.microsoft.com/office/drawing/2014/chart" uri="{C3380CC4-5D6E-409C-BE32-E72D297353CC}">
              <c16:uniqueId val="{00000001-5A16-4783-B038-DA1A5BECB60A}"/>
            </c:ext>
          </c:extLst>
        </c:ser>
        <c:dLbls>
          <c:dLblPos val="outEnd"/>
          <c:showLegendKey val="0"/>
          <c:showVal val="1"/>
          <c:showCatName val="0"/>
          <c:showSerName val="0"/>
          <c:showPercent val="0"/>
          <c:showBubbleSize val="0"/>
        </c:dLbls>
        <c:gapWidth val="219"/>
        <c:overlap val="-27"/>
        <c:axId val="1443108255"/>
        <c:axId val="1443110175"/>
      </c:barChart>
      <c:catAx>
        <c:axId val="1443108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43110175"/>
        <c:crosses val="autoZero"/>
        <c:auto val="1"/>
        <c:lblAlgn val="ctr"/>
        <c:lblOffset val="100"/>
        <c:noMultiLvlLbl val="0"/>
      </c:catAx>
      <c:valAx>
        <c:axId val="14431101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431082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Delay Reason Frequency</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mostfrequentdelayreasons!$B$1</c:f>
              <c:strCache>
                <c:ptCount val="1"/>
                <c:pt idx="0">
                  <c:v>delay_reason_frequency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mostfrequentdelayreasons!$A$2:$A$5</c:f>
              <c:strCache>
                <c:ptCount val="4"/>
                <c:pt idx="0">
                  <c:v>Traffic</c:v>
                </c:pt>
                <c:pt idx="1">
                  <c:v>Weather</c:v>
                </c:pt>
                <c:pt idx="2">
                  <c:v>Technical Issue</c:v>
                </c:pt>
                <c:pt idx="3">
                  <c:v>No Delay</c:v>
                </c:pt>
              </c:strCache>
            </c:strRef>
          </c:cat>
          <c:val>
            <c:numRef>
              <c:f>mostfrequentdelayreasons!$B$2:$B$5</c:f>
              <c:numCache>
                <c:formatCode>General</c:formatCode>
                <c:ptCount val="4"/>
                <c:pt idx="0">
                  <c:v>486</c:v>
                </c:pt>
                <c:pt idx="1">
                  <c:v>293</c:v>
                </c:pt>
                <c:pt idx="2">
                  <c:v>168</c:v>
                </c:pt>
                <c:pt idx="3">
                  <c:v>53</c:v>
                </c:pt>
              </c:numCache>
            </c:numRef>
          </c:val>
          <c:extLst>
            <c:ext xmlns:c16="http://schemas.microsoft.com/office/drawing/2014/chart" uri="{C3380CC4-5D6E-409C-BE32-E72D297353CC}">
              <c16:uniqueId val="{00000000-870A-4EB4-87D9-6E42026B4006}"/>
            </c:ext>
          </c:extLst>
        </c:ser>
        <c:dLbls>
          <c:dLblPos val="outEnd"/>
          <c:showLegendKey val="0"/>
          <c:showVal val="1"/>
          <c:showCatName val="0"/>
          <c:showSerName val="0"/>
          <c:showPercent val="0"/>
          <c:showBubbleSize val="0"/>
        </c:dLbls>
        <c:gapWidth val="100"/>
        <c:overlap val="-24"/>
        <c:axId val="1443066495"/>
        <c:axId val="1443065055"/>
      </c:barChart>
      <c:catAx>
        <c:axId val="1443066495"/>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443065055"/>
        <c:crosses val="autoZero"/>
        <c:auto val="1"/>
        <c:lblAlgn val="ctr"/>
        <c:lblOffset val="100"/>
        <c:noMultiLvlLbl val="0"/>
      </c:catAx>
      <c:valAx>
        <c:axId val="1443065055"/>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4430664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AVG Delivery Delay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AVGdeliverydelaypersourcecountr!$B$1</c:f>
              <c:strCache>
                <c:ptCount val="1"/>
                <c:pt idx="0">
                  <c:v>AVG_Delivery_Delay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AVGdeliverydelaypersourcecountr!$A$2:$A$18</c:f>
              <c:strCache>
                <c:ptCount val="17"/>
                <c:pt idx="0">
                  <c:v>France</c:v>
                </c:pt>
                <c:pt idx="1">
                  <c:v>Brazil</c:v>
                </c:pt>
                <c:pt idx="2">
                  <c:v>Spain</c:v>
                </c:pt>
                <c:pt idx="3">
                  <c:v>UAE</c:v>
                </c:pt>
                <c:pt idx="4">
                  <c:v>Australia</c:v>
                </c:pt>
                <c:pt idx="5">
                  <c:v>China</c:v>
                </c:pt>
                <c:pt idx="6">
                  <c:v>Singapore</c:v>
                </c:pt>
                <c:pt idx="7">
                  <c:v>UK</c:v>
                </c:pt>
                <c:pt idx="8">
                  <c:v>Turkey</c:v>
                </c:pt>
                <c:pt idx="9">
                  <c:v>South Korea</c:v>
                </c:pt>
                <c:pt idx="10">
                  <c:v>Belgium</c:v>
                </c:pt>
                <c:pt idx="11">
                  <c:v>Japan</c:v>
                </c:pt>
                <c:pt idx="12">
                  <c:v>Germany</c:v>
                </c:pt>
                <c:pt idx="13">
                  <c:v>USA</c:v>
                </c:pt>
                <c:pt idx="14">
                  <c:v>South Africa</c:v>
                </c:pt>
                <c:pt idx="15">
                  <c:v>Netherlands</c:v>
                </c:pt>
                <c:pt idx="16">
                  <c:v>Canada</c:v>
                </c:pt>
              </c:strCache>
            </c:strRef>
          </c:cat>
          <c:val>
            <c:numRef>
              <c:f>AVGdeliverydelaypersourcecountr!$B$2:$B$18</c:f>
              <c:numCache>
                <c:formatCode>General</c:formatCode>
                <c:ptCount val="17"/>
                <c:pt idx="0">
                  <c:v>84</c:v>
                </c:pt>
                <c:pt idx="1">
                  <c:v>76</c:v>
                </c:pt>
                <c:pt idx="2">
                  <c:v>71</c:v>
                </c:pt>
                <c:pt idx="3">
                  <c:v>64</c:v>
                </c:pt>
                <c:pt idx="4">
                  <c:v>64</c:v>
                </c:pt>
                <c:pt idx="5">
                  <c:v>62</c:v>
                </c:pt>
                <c:pt idx="6">
                  <c:v>60</c:v>
                </c:pt>
                <c:pt idx="7">
                  <c:v>57</c:v>
                </c:pt>
                <c:pt idx="8">
                  <c:v>53</c:v>
                </c:pt>
                <c:pt idx="9">
                  <c:v>52</c:v>
                </c:pt>
                <c:pt idx="10">
                  <c:v>52</c:v>
                </c:pt>
                <c:pt idx="11">
                  <c:v>50</c:v>
                </c:pt>
                <c:pt idx="12">
                  <c:v>42</c:v>
                </c:pt>
                <c:pt idx="13">
                  <c:v>39</c:v>
                </c:pt>
                <c:pt idx="14">
                  <c:v>31</c:v>
                </c:pt>
                <c:pt idx="15">
                  <c:v>28</c:v>
                </c:pt>
                <c:pt idx="16">
                  <c:v>28</c:v>
                </c:pt>
              </c:numCache>
            </c:numRef>
          </c:val>
          <c:extLst>
            <c:ext xmlns:c16="http://schemas.microsoft.com/office/drawing/2014/chart" uri="{C3380CC4-5D6E-409C-BE32-E72D297353CC}">
              <c16:uniqueId val="{00000000-2E42-42A1-AED0-2FE26A2F4739}"/>
            </c:ext>
          </c:extLst>
        </c:ser>
        <c:dLbls>
          <c:dLblPos val="outEnd"/>
          <c:showLegendKey val="0"/>
          <c:showVal val="1"/>
          <c:showCatName val="0"/>
          <c:showSerName val="0"/>
          <c:showPercent val="0"/>
          <c:showBubbleSize val="0"/>
        </c:dLbls>
        <c:gapWidth val="219"/>
        <c:overlap val="-27"/>
        <c:axId val="1281329648"/>
        <c:axId val="1281326768"/>
      </c:barChart>
      <c:catAx>
        <c:axId val="1281329648"/>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Country</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1326768"/>
        <c:crosses val="autoZero"/>
        <c:auto val="1"/>
        <c:lblAlgn val="ctr"/>
        <c:lblOffset val="100"/>
        <c:noMultiLvlLbl val="0"/>
      </c:catAx>
      <c:valAx>
        <c:axId val="1281326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a:t>Avg Delay Delay</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13296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0.11288</cdr:x>
      <cdr:y>0.45461</cdr:y>
    </cdr:from>
    <cdr:to>
      <cdr:x>0.14444</cdr:x>
      <cdr:y>0.57525</cdr:y>
    </cdr:to>
    <cdr:sp macro="" textlink="">
      <cdr:nvSpPr>
        <cdr:cNvPr id="2" name="TextBox 1">
          <a:extLst xmlns:a="http://schemas.openxmlformats.org/drawingml/2006/main">
            <a:ext uri="{FF2B5EF4-FFF2-40B4-BE49-F238E27FC236}">
              <a16:creationId xmlns:a16="http://schemas.microsoft.com/office/drawing/2014/main" id="{2DB429B2-0829-F144-39A6-001E9E26F3AA}"/>
            </a:ext>
          </a:extLst>
        </cdr:cNvPr>
        <cdr:cNvSpPr txBox="1"/>
      </cdr:nvSpPr>
      <cdr:spPr>
        <a:xfrm xmlns:a="http://schemas.openxmlformats.org/drawingml/2006/main" rot="16200000">
          <a:off x="628141" y="2282700"/>
          <a:ext cx="560935" cy="2228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b="1" kern="1200" dirty="0">
            <a:solidFill>
              <a:schemeClr val="bg1"/>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730E34-63EA-4AC5-A36F-B3F870F5ADD1}"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BB0E2F-46A6-4800-BD13-4AB3C59F84DC}" type="slidenum">
              <a:rPr lang="en-US" smtClean="0"/>
              <a:t>‹#›</a:t>
            </a:fld>
            <a:endParaRPr lang="en-US"/>
          </a:p>
        </p:txBody>
      </p:sp>
    </p:spTree>
    <p:extLst>
      <p:ext uri="{BB962C8B-B14F-4D97-AF65-F5344CB8AC3E}">
        <p14:creationId xmlns:p14="http://schemas.microsoft.com/office/powerpoint/2010/main" val="4126983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BB0E2F-46A6-4800-BD13-4AB3C59F84DC}" type="slidenum">
              <a:rPr lang="en-US" smtClean="0"/>
              <a:t>11</a:t>
            </a:fld>
            <a:endParaRPr lang="en-US"/>
          </a:p>
        </p:txBody>
      </p:sp>
    </p:spTree>
    <p:extLst>
      <p:ext uri="{BB962C8B-B14F-4D97-AF65-F5344CB8AC3E}">
        <p14:creationId xmlns:p14="http://schemas.microsoft.com/office/powerpoint/2010/main" val="2053252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5BD78-0DFD-48DE-EC8F-B7FBAECFEA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524D4-8A89-CEF6-D92D-F86DE5CAA3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4B161D-3029-A421-3142-7088B88E16B5}"/>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5" name="Footer Placeholder 4">
            <a:extLst>
              <a:ext uri="{FF2B5EF4-FFF2-40B4-BE49-F238E27FC236}">
                <a16:creationId xmlns:a16="http://schemas.microsoft.com/office/drawing/2014/main" id="{DC6BBE97-7E91-AF45-2B11-B32AB302B2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0EDDD-2168-D576-56EA-D127A16AF06A}"/>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2346430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06305-B607-D0A0-ED92-07846F87FA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340B2-B937-D882-6B15-02697F2AD8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C1FA0D-DC25-8BC0-A05F-2084B3A7E7AB}"/>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5" name="Footer Placeholder 4">
            <a:extLst>
              <a:ext uri="{FF2B5EF4-FFF2-40B4-BE49-F238E27FC236}">
                <a16:creationId xmlns:a16="http://schemas.microsoft.com/office/drawing/2014/main" id="{4F559AC1-0768-D461-35D7-8009A377A3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4826D-2D85-DE50-4621-014D53BD7096}"/>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406778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7F1A8-F52D-3B30-31A5-E656657604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8F55F2-A642-8752-C6D4-EEF942A248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045AAE-BEDB-FDAC-53B8-5BE1231E03F1}"/>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5" name="Footer Placeholder 4">
            <a:extLst>
              <a:ext uri="{FF2B5EF4-FFF2-40B4-BE49-F238E27FC236}">
                <a16:creationId xmlns:a16="http://schemas.microsoft.com/office/drawing/2014/main" id="{3D5A26C2-79EB-9DC8-092D-E1EDB2CFAF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54020-E2A1-B393-463A-74E7F0A9E747}"/>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325666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6B8D-193D-5120-52E6-BBF97837A0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6E5509-53F1-12A7-4F16-7B64E5078A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E518AF-EC42-95AE-406E-BE3602A2B0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349E09-0AAF-4D0F-5780-C754229178C6}"/>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6" name="Footer Placeholder 5">
            <a:extLst>
              <a:ext uri="{FF2B5EF4-FFF2-40B4-BE49-F238E27FC236}">
                <a16:creationId xmlns:a16="http://schemas.microsoft.com/office/drawing/2014/main" id="{A034CC79-692A-DEC8-3175-374642DCFD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3514F3-BAA7-185E-07B0-53089C2BA5DF}"/>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771505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9C67-A823-6C2F-3396-B7568089AE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BE97D8-3A11-35FB-45F4-97723888A1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DA56D1-1800-D690-A99A-224AC3779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B0244D-6077-1656-6E5D-B1A66242FF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8F9C47-945C-DDAA-6365-01BCACD0AA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59DB08-ACE3-84EC-2CF8-F8EB1CD69450}"/>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8" name="Footer Placeholder 7">
            <a:extLst>
              <a:ext uri="{FF2B5EF4-FFF2-40B4-BE49-F238E27FC236}">
                <a16:creationId xmlns:a16="http://schemas.microsoft.com/office/drawing/2014/main" id="{DE1E62D1-E424-EA32-1A4F-7598B1FDE4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5C68F6-032D-CDAC-F65E-853E825E93B6}"/>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3858172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DC3C4-FBD1-2CDB-04C7-87E371DFB3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A4EE27-FD9A-F4F7-B435-6BA08B6D3E2A}"/>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4" name="Footer Placeholder 3">
            <a:extLst>
              <a:ext uri="{FF2B5EF4-FFF2-40B4-BE49-F238E27FC236}">
                <a16:creationId xmlns:a16="http://schemas.microsoft.com/office/drawing/2014/main" id="{308B12DF-1F0B-2B6E-3CB7-1C929ACC9A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FDEDE0-131E-33C4-8DA4-839184F5BA26}"/>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133069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82782D-B751-4414-202D-EB4DC97AEF98}"/>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3" name="Footer Placeholder 2">
            <a:extLst>
              <a:ext uri="{FF2B5EF4-FFF2-40B4-BE49-F238E27FC236}">
                <a16:creationId xmlns:a16="http://schemas.microsoft.com/office/drawing/2014/main" id="{1140FE73-92C2-C78E-F1ED-EEC6FD9DC5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9E7AD3-F6F5-CC88-0F6E-7CC0EAC634C3}"/>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2696975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A147-A9C2-9C8B-9081-069560FB1B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61F3B3-E290-92D5-3453-1F947B0A4F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F09E16-74B2-B966-F46B-2269BD1C4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A42D8E-EAB6-155C-1BEF-B2C764CF5F3D}"/>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6" name="Footer Placeholder 5">
            <a:extLst>
              <a:ext uri="{FF2B5EF4-FFF2-40B4-BE49-F238E27FC236}">
                <a16:creationId xmlns:a16="http://schemas.microsoft.com/office/drawing/2014/main" id="{C6DE4801-C206-BE23-A1E9-7CAD2FED18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DD99CA-F03E-9BF5-3321-440A4EFEED17}"/>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1205533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83E2F-7A6B-1414-C524-EE2B2D4A1A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DC7F88-2A1F-2AEE-1722-FA08D553C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4CDCDA-2E4B-FBB1-9421-820C4E4549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6D67D7-A379-9F69-1999-9C1FBBDE701E}"/>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6" name="Footer Placeholder 5">
            <a:extLst>
              <a:ext uri="{FF2B5EF4-FFF2-40B4-BE49-F238E27FC236}">
                <a16:creationId xmlns:a16="http://schemas.microsoft.com/office/drawing/2014/main" id="{11C85929-42B2-1D5E-652F-D89615AB68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B3BC1-89E4-AECF-1DE0-ED19200FA366}"/>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1129700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7BA6-65A6-742E-1711-B3208D26C5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3BF883-CE65-7564-DAE8-0D50BF8EE2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6B45F-BDED-8EB5-0A67-01ABF63A6B3E}"/>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5" name="Footer Placeholder 4">
            <a:extLst>
              <a:ext uri="{FF2B5EF4-FFF2-40B4-BE49-F238E27FC236}">
                <a16:creationId xmlns:a16="http://schemas.microsoft.com/office/drawing/2014/main" id="{50B8DF4B-A3C4-DD6E-B9EF-225D094E9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5D9B6-264D-124D-C2EA-3ECEF8415E3F}"/>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829330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758826-AD19-C194-5915-78AA82C4E8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02429F-0F9C-35CF-DB97-52EDD3905F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67287-3833-36B3-1B17-ADFD68C6F439}"/>
              </a:ext>
            </a:extLst>
          </p:cNvPr>
          <p:cNvSpPr>
            <a:spLocks noGrp="1"/>
          </p:cNvSpPr>
          <p:nvPr>
            <p:ph type="dt" sz="half" idx="10"/>
          </p:nvPr>
        </p:nvSpPr>
        <p:spPr/>
        <p:txBody>
          <a:bodyPr/>
          <a:lstStyle/>
          <a:p>
            <a:fld id="{F9317D5A-5D41-4EAD-8C0E-2A92ACE4D5E0}" type="datetimeFigureOut">
              <a:rPr lang="en-US" smtClean="0"/>
              <a:t>7/21/2026</a:t>
            </a:fld>
            <a:endParaRPr lang="en-US"/>
          </a:p>
        </p:txBody>
      </p:sp>
      <p:sp>
        <p:nvSpPr>
          <p:cNvPr id="5" name="Footer Placeholder 4">
            <a:extLst>
              <a:ext uri="{FF2B5EF4-FFF2-40B4-BE49-F238E27FC236}">
                <a16:creationId xmlns:a16="http://schemas.microsoft.com/office/drawing/2014/main" id="{1EE8136B-D4BD-1D45-08E9-B710F29F96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E284E-7581-8A89-CD27-B8F67C51F5C6}"/>
              </a:ext>
            </a:extLst>
          </p:cNvPr>
          <p:cNvSpPr>
            <a:spLocks noGrp="1"/>
          </p:cNvSpPr>
          <p:nvPr>
            <p:ph type="sldNum" sz="quarter" idx="12"/>
          </p:nvPr>
        </p:nvSpPr>
        <p:spPr/>
        <p:txBody>
          <a:bodyPr/>
          <a:lstStyle/>
          <a:p>
            <a:fld id="{E2F2E8E9-D460-419B-9E67-494C54CC8003}" type="slidenum">
              <a:rPr lang="en-US" smtClean="0"/>
              <a:t>‹#›</a:t>
            </a:fld>
            <a:endParaRPr lang="en-US"/>
          </a:p>
        </p:txBody>
      </p:sp>
    </p:spTree>
    <p:extLst>
      <p:ext uri="{BB962C8B-B14F-4D97-AF65-F5344CB8AC3E}">
        <p14:creationId xmlns:p14="http://schemas.microsoft.com/office/powerpoint/2010/main" val="348585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6">
                <a:lumMod val="60000"/>
                <a:lumOff val="40000"/>
              </a:schemeClr>
            </a:gs>
            <a:gs pos="83000">
              <a:schemeClr val="accent6">
                <a:lumMod val="60000"/>
                <a:lumOff val="40000"/>
              </a:schemeClr>
            </a:gs>
            <a:gs pos="100000">
              <a:schemeClr val="accent6">
                <a:lumMod val="40000"/>
                <a:lumOff val="6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FBC1F-99DF-AAD9-C629-400E3A4883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CFFC3E-694E-305A-B173-19886EB8D5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5B1E47-9422-7D33-EFF7-AEBF55797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317D5A-5D41-4EAD-8C0E-2A92ACE4D5E0}" type="datetimeFigureOut">
              <a:rPr lang="en-US" smtClean="0"/>
              <a:t>7/21/2026</a:t>
            </a:fld>
            <a:endParaRPr lang="en-US"/>
          </a:p>
        </p:txBody>
      </p:sp>
      <p:sp>
        <p:nvSpPr>
          <p:cNvPr id="5" name="Footer Placeholder 4">
            <a:extLst>
              <a:ext uri="{FF2B5EF4-FFF2-40B4-BE49-F238E27FC236}">
                <a16:creationId xmlns:a16="http://schemas.microsoft.com/office/drawing/2014/main" id="{50E8BEE6-2097-21E6-C210-9B23EF7313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E4289E-7E47-C164-60D6-AB38B1BB64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F2E8E9-D460-419B-9E67-494C54CC8003}" type="slidenum">
              <a:rPr lang="en-US" smtClean="0"/>
              <a:t>‹#›</a:t>
            </a:fld>
            <a:endParaRPr lang="en-US"/>
          </a:p>
        </p:txBody>
      </p:sp>
    </p:spTree>
    <p:extLst>
      <p:ext uri="{BB962C8B-B14F-4D97-AF65-F5344CB8AC3E}">
        <p14:creationId xmlns:p14="http://schemas.microsoft.com/office/powerpoint/2010/main" val="2109230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oom.com/share/023e545fa04c454598214679fcf985f4"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2.xml"/><Relationship Id="rId4" Type="http://schemas.openxmlformats.org/officeDocument/2006/relationships/chart" Target="../charts/chart14.xml"/></Relationships>
</file>

<file path=ppt/slides/_rels/slide28.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2.xml"/><Relationship Id="rId4" Type="http://schemas.openxmlformats.org/officeDocument/2006/relationships/chart" Target="../charts/chart15.xml"/></Relationships>
</file>

<file path=ppt/slides/_rels/slide3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AB01C-F624-2EEC-56E4-3476355B3F91}"/>
              </a:ext>
            </a:extLst>
          </p:cNvPr>
          <p:cNvSpPr>
            <a:spLocks noGrp="1"/>
          </p:cNvSpPr>
          <p:nvPr>
            <p:ph type="ctrTitle"/>
          </p:nvPr>
        </p:nvSpPr>
        <p:spPr>
          <a:xfrm>
            <a:off x="810705" y="1682073"/>
            <a:ext cx="10661716" cy="787078"/>
          </a:xfrm>
        </p:spPr>
        <p:txBody>
          <a:bodyPr>
            <a:normAutofit/>
          </a:bodyPr>
          <a:lstStyle/>
          <a:p>
            <a:r>
              <a:rPr lang="en-GB" sz="4000" b="1" dirty="0">
                <a:latin typeface="+mn-lt"/>
              </a:rPr>
              <a:t>Logistics Optimization for Delivery Routes – DHL </a:t>
            </a:r>
            <a:endParaRPr lang="en-US" sz="4000" dirty="0">
              <a:latin typeface="+mn-lt"/>
            </a:endParaRPr>
          </a:p>
        </p:txBody>
      </p:sp>
      <p:pic>
        <p:nvPicPr>
          <p:cNvPr id="5" name="Picture 4">
            <a:extLst>
              <a:ext uri="{FF2B5EF4-FFF2-40B4-BE49-F238E27FC236}">
                <a16:creationId xmlns:a16="http://schemas.microsoft.com/office/drawing/2014/main" id="{1EA40E52-F3CF-D009-AA26-B24FFAB2F5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94564" cy="1593130"/>
          </a:xfrm>
          <a:prstGeom prst="rect">
            <a:avLst/>
          </a:prstGeom>
        </p:spPr>
      </p:pic>
      <p:sp>
        <p:nvSpPr>
          <p:cNvPr id="6" name="TextBox 5">
            <a:extLst>
              <a:ext uri="{FF2B5EF4-FFF2-40B4-BE49-F238E27FC236}">
                <a16:creationId xmlns:a16="http://schemas.microsoft.com/office/drawing/2014/main" id="{B23D4274-90B7-6EC1-E130-29244B949882}"/>
              </a:ext>
            </a:extLst>
          </p:cNvPr>
          <p:cNvSpPr txBox="1"/>
          <p:nvPr/>
        </p:nvSpPr>
        <p:spPr>
          <a:xfrm>
            <a:off x="4573570" y="263949"/>
            <a:ext cx="3514627" cy="830997"/>
          </a:xfrm>
          <a:prstGeom prst="rect">
            <a:avLst/>
          </a:prstGeom>
          <a:noFill/>
        </p:spPr>
        <p:txBody>
          <a:bodyPr wrap="square" rtlCol="0">
            <a:spAutoFit/>
          </a:bodyPr>
          <a:lstStyle/>
          <a:p>
            <a:r>
              <a:rPr lang="en-US" sz="4800" b="1" dirty="0"/>
              <a:t>SQL PROJECT</a:t>
            </a:r>
          </a:p>
        </p:txBody>
      </p:sp>
      <p:sp>
        <p:nvSpPr>
          <p:cNvPr id="7" name="TextBox 6">
            <a:extLst>
              <a:ext uri="{FF2B5EF4-FFF2-40B4-BE49-F238E27FC236}">
                <a16:creationId xmlns:a16="http://schemas.microsoft.com/office/drawing/2014/main" id="{8FFF876D-6B62-E8AA-DD7E-A8F34560459B}"/>
              </a:ext>
            </a:extLst>
          </p:cNvPr>
          <p:cNvSpPr txBox="1"/>
          <p:nvPr/>
        </p:nvSpPr>
        <p:spPr>
          <a:xfrm>
            <a:off x="8319154" y="5772480"/>
            <a:ext cx="4048814" cy="830997"/>
          </a:xfrm>
          <a:prstGeom prst="rect">
            <a:avLst/>
          </a:prstGeom>
          <a:noFill/>
        </p:spPr>
        <p:txBody>
          <a:bodyPr wrap="square" rtlCol="0">
            <a:spAutoFit/>
          </a:bodyPr>
          <a:lstStyle/>
          <a:p>
            <a:r>
              <a:rPr lang="en-US" sz="2400" dirty="0">
                <a:latin typeface="Alpenkreuzer" panose="02000500000000000000" pitchFamily="2" charset="0"/>
              </a:rPr>
              <a:t>Submitted By SAGAR</a:t>
            </a:r>
          </a:p>
        </p:txBody>
      </p:sp>
      <p:sp>
        <p:nvSpPr>
          <p:cNvPr id="3" name="TextBox 2">
            <a:extLst>
              <a:ext uri="{FF2B5EF4-FFF2-40B4-BE49-F238E27FC236}">
                <a16:creationId xmlns:a16="http://schemas.microsoft.com/office/drawing/2014/main" id="{5E16A33D-5FF6-F36A-1450-838B5C9BFDED}"/>
              </a:ext>
            </a:extLst>
          </p:cNvPr>
          <p:cNvSpPr txBox="1"/>
          <p:nvPr/>
        </p:nvSpPr>
        <p:spPr>
          <a:xfrm>
            <a:off x="2222151" y="4028943"/>
            <a:ext cx="7747698" cy="369332"/>
          </a:xfrm>
          <a:prstGeom prst="rect">
            <a:avLst/>
          </a:prstGeom>
          <a:noFill/>
        </p:spPr>
        <p:txBody>
          <a:bodyPr wrap="none" rtlCol="0">
            <a:spAutoFit/>
          </a:bodyPr>
          <a:lstStyle/>
          <a:p>
            <a:r>
              <a:rPr lang="en-US" dirty="0"/>
              <a:t>Video link :- </a:t>
            </a:r>
            <a:r>
              <a:rPr lang="en-US" dirty="0">
                <a:hlinkClick r:id="rId3"/>
              </a:rPr>
              <a:t>https://www.loom.com/share/023e545fa04c454598214679fcf985f4</a:t>
            </a:r>
            <a:endParaRPr lang="en-US" dirty="0"/>
          </a:p>
        </p:txBody>
      </p:sp>
    </p:spTree>
    <p:extLst>
      <p:ext uri="{BB962C8B-B14F-4D97-AF65-F5344CB8AC3E}">
        <p14:creationId xmlns:p14="http://schemas.microsoft.com/office/powerpoint/2010/main" val="1644955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9555-8517-F083-03CD-4420C3E545B0}"/>
              </a:ext>
            </a:extLst>
          </p:cNvPr>
          <p:cNvSpPr>
            <a:spLocks noGrp="1"/>
          </p:cNvSpPr>
          <p:nvPr>
            <p:ph type="title"/>
          </p:nvPr>
        </p:nvSpPr>
        <p:spPr>
          <a:xfrm>
            <a:off x="838200" y="348791"/>
            <a:ext cx="4855590" cy="1335431"/>
          </a:xfrm>
        </p:spPr>
        <p:txBody>
          <a:bodyPr/>
          <a:lstStyle/>
          <a:p>
            <a:r>
              <a:rPr lang="en-US" b="1" dirty="0">
                <a:latin typeface="+mn-lt"/>
              </a:rPr>
              <a:t>Project Objectives</a:t>
            </a:r>
          </a:p>
        </p:txBody>
      </p:sp>
      <p:sp>
        <p:nvSpPr>
          <p:cNvPr id="3" name="Content Placeholder 2">
            <a:extLst>
              <a:ext uri="{FF2B5EF4-FFF2-40B4-BE49-F238E27FC236}">
                <a16:creationId xmlns:a16="http://schemas.microsoft.com/office/drawing/2014/main" id="{4DADAF1F-5247-1BD7-2FD3-2009ACBFB982}"/>
              </a:ext>
            </a:extLst>
          </p:cNvPr>
          <p:cNvSpPr>
            <a:spLocks noGrp="1"/>
          </p:cNvSpPr>
          <p:nvPr>
            <p:ph idx="1"/>
          </p:nvPr>
        </p:nvSpPr>
        <p:spPr>
          <a:xfrm>
            <a:off x="970175" y="1769064"/>
            <a:ext cx="8239812" cy="2293888"/>
          </a:xfrm>
        </p:spPr>
        <p:txBody>
          <a:bodyPr>
            <a:normAutofit/>
          </a:bodyPr>
          <a:lstStyle/>
          <a:p>
            <a:r>
              <a:rPr lang="en-US" sz="2000" dirty="0"/>
              <a:t>Identify the root causes of shipment and delivery delays. </a:t>
            </a:r>
          </a:p>
          <a:p>
            <a:r>
              <a:rPr lang="en-US" sz="2000" dirty="0"/>
              <a:t>Optimize delivery routes for faster and more cost-effective transportation.</a:t>
            </a:r>
          </a:p>
          <a:p>
            <a:r>
              <a:rPr lang="en-US" sz="2000" dirty="0"/>
              <a:t>Analyze warehouse performance and operational efficiency.</a:t>
            </a:r>
          </a:p>
          <a:p>
            <a:r>
              <a:rPr lang="en-US" sz="2000" dirty="0"/>
              <a:t>Evaluate delivery agent performance using SQL analytics.</a:t>
            </a:r>
          </a:p>
          <a:p>
            <a:r>
              <a:rPr lang="en-US" sz="2000" dirty="0"/>
              <a:t>Generate KPI reports to support data-driven business decisions.</a:t>
            </a:r>
          </a:p>
        </p:txBody>
      </p:sp>
      <p:sp>
        <p:nvSpPr>
          <p:cNvPr id="4" name="TextBox 3">
            <a:extLst>
              <a:ext uri="{FF2B5EF4-FFF2-40B4-BE49-F238E27FC236}">
                <a16:creationId xmlns:a16="http://schemas.microsoft.com/office/drawing/2014/main" id="{8A1A6B35-6AB8-AEA9-8E73-DF9BD6E51C01}"/>
              </a:ext>
            </a:extLst>
          </p:cNvPr>
          <p:cNvSpPr txBox="1"/>
          <p:nvPr/>
        </p:nvSpPr>
        <p:spPr>
          <a:xfrm>
            <a:off x="1142018" y="4062952"/>
            <a:ext cx="8067970" cy="1631216"/>
          </a:xfrm>
          <a:prstGeom prst="rect">
            <a:avLst/>
          </a:prstGeom>
          <a:noFill/>
        </p:spPr>
        <p:txBody>
          <a:bodyPr wrap="square" rtlCol="0">
            <a:spAutoFit/>
          </a:bodyPr>
          <a:lstStyle/>
          <a:p>
            <a:r>
              <a:rPr lang="en-US" sz="2000" dirty="0"/>
              <a:t>The main objective of this project is to analyze DHL logistics data using SQL, identify operational bottlenecks, evaluate delivery performance, and provide actionable recommendations to improve route efficiency and customer satisfaction.</a:t>
            </a:r>
          </a:p>
          <a:p>
            <a:endParaRPr lang="en-US" sz="2000" dirty="0"/>
          </a:p>
        </p:txBody>
      </p:sp>
      <p:pic>
        <p:nvPicPr>
          <p:cNvPr id="6" name="Picture 5">
            <a:extLst>
              <a:ext uri="{FF2B5EF4-FFF2-40B4-BE49-F238E27FC236}">
                <a16:creationId xmlns:a16="http://schemas.microsoft.com/office/drawing/2014/main" id="{4EA64C05-868E-FFB9-7E5C-32EB2642B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1830" y="2096646"/>
            <a:ext cx="2493782" cy="1950582"/>
          </a:xfrm>
          <a:prstGeom prst="rect">
            <a:avLst/>
          </a:prstGeom>
        </p:spPr>
      </p:pic>
    </p:spTree>
    <p:extLst>
      <p:ext uri="{BB962C8B-B14F-4D97-AF65-F5344CB8AC3E}">
        <p14:creationId xmlns:p14="http://schemas.microsoft.com/office/powerpoint/2010/main" val="3713742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62F3E-66E4-BC00-6E7E-EE6B0362EF39}"/>
              </a:ext>
            </a:extLst>
          </p:cNvPr>
          <p:cNvSpPr>
            <a:spLocks noGrp="1"/>
          </p:cNvSpPr>
          <p:nvPr>
            <p:ph type="title"/>
          </p:nvPr>
        </p:nvSpPr>
        <p:spPr>
          <a:xfrm>
            <a:off x="838200" y="309919"/>
            <a:ext cx="6162675" cy="621685"/>
          </a:xfrm>
        </p:spPr>
        <p:txBody>
          <a:bodyPr>
            <a:normAutofit fontScale="90000"/>
          </a:bodyPr>
          <a:lstStyle/>
          <a:p>
            <a:r>
              <a:rPr lang="en-US" b="1" dirty="0">
                <a:latin typeface="+mn-lt"/>
              </a:rPr>
              <a:t>Dataset Description</a:t>
            </a:r>
          </a:p>
        </p:txBody>
      </p:sp>
      <p:graphicFrame>
        <p:nvGraphicFramePr>
          <p:cNvPr id="4" name="Content Placeholder 3">
            <a:extLst>
              <a:ext uri="{FF2B5EF4-FFF2-40B4-BE49-F238E27FC236}">
                <a16:creationId xmlns:a16="http://schemas.microsoft.com/office/drawing/2014/main" id="{103B82DC-B30C-3E52-4546-22D882DAA2B3}"/>
              </a:ext>
            </a:extLst>
          </p:cNvPr>
          <p:cNvGraphicFramePr>
            <a:graphicFrameLocks noGrp="1"/>
          </p:cNvGraphicFramePr>
          <p:nvPr>
            <p:ph idx="1"/>
            <p:extLst>
              <p:ext uri="{D42A27DB-BD31-4B8C-83A1-F6EECF244321}">
                <p14:modId xmlns:p14="http://schemas.microsoft.com/office/powerpoint/2010/main" val="1390676238"/>
              </p:ext>
            </p:extLst>
          </p:nvPr>
        </p:nvGraphicFramePr>
        <p:xfrm>
          <a:off x="838200" y="1234440"/>
          <a:ext cx="9898929" cy="2194560"/>
        </p:xfrm>
        <a:graphic>
          <a:graphicData uri="http://schemas.openxmlformats.org/drawingml/2006/table">
            <a:tbl>
              <a:tblPr firstRow="1" bandRow="1">
                <a:tableStyleId>{5C22544A-7EE6-4342-B048-85BDC9FD1C3A}</a:tableStyleId>
              </a:tblPr>
              <a:tblGrid>
                <a:gridCol w="3299643">
                  <a:extLst>
                    <a:ext uri="{9D8B030D-6E8A-4147-A177-3AD203B41FA5}">
                      <a16:colId xmlns:a16="http://schemas.microsoft.com/office/drawing/2014/main" val="84494278"/>
                    </a:ext>
                  </a:extLst>
                </a:gridCol>
                <a:gridCol w="3299643">
                  <a:extLst>
                    <a:ext uri="{9D8B030D-6E8A-4147-A177-3AD203B41FA5}">
                      <a16:colId xmlns:a16="http://schemas.microsoft.com/office/drawing/2014/main" val="3339342904"/>
                    </a:ext>
                  </a:extLst>
                </a:gridCol>
                <a:gridCol w="3299643">
                  <a:extLst>
                    <a:ext uri="{9D8B030D-6E8A-4147-A177-3AD203B41FA5}">
                      <a16:colId xmlns:a16="http://schemas.microsoft.com/office/drawing/2014/main" val="3359005081"/>
                    </a:ext>
                  </a:extLst>
                </a:gridCol>
              </a:tblGrid>
              <a:tr h="292388">
                <a:tc>
                  <a:txBody>
                    <a:bodyPr/>
                    <a:lstStyle/>
                    <a:p>
                      <a:pPr>
                        <a:buNone/>
                      </a:pPr>
                      <a:r>
                        <a:rPr lang="en-US" dirty="0"/>
                        <a:t>Dataset</a:t>
                      </a:r>
                    </a:p>
                  </a:txBody>
                  <a:tcPr anchor="ctr"/>
                </a:tc>
                <a:tc>
                  <a:txBody>
                    <a:bodyPr/>
                    <a:lstStyle/>
                    <a:p>
                      <a:r>
                        <a:rPr lang="en-US" dirty="0"/>
                        <a:t>Records</a:t>
                      </a:r>
                    </a:p>
                  </a:txBody>
                  <a:tcPr/>
                </a:tc>
                <a:tc>
                  <a:txBody>
                    <a:bodyPr/>
                    <a:lstStyle/>
                    <a:p>
                      <a:r>
                        <a:rPr lang="en-US" dirty="0"/>
                        <a:t>Description</a:t>
                      </a:r>
                    </a:p>
                  </a:txBody>
                  <a:tcPr/>
                </a:tc>
                <a:extLst>
                  <a:ext uri="{0D108BD9-81ED-4DB2-BD59-A6C34878D82A}">
                    <a16:rowId xmlns:a16="http://schemas.microsoft.com/office/drawing/2014/main" val="2022413511"/>
                  </a:ext>
                </a:extLst>
              </a:tr>
              <a:tr h="292388">
                <a:tc>
                  <a:txBody>
                    <a:bodyPr/>
                    <a:lstStyle/>
                    <a:p>
                      <a:r>
                        <a:rPr lang="en-US" dirty="0"/>
                        <a:t>Orders</a:t>
                      </a:r>
                    </a:p>
                  </a:txBody>
                  <a:tcPr/>
                </a:tc>
                <a:tc>
                  <a:txBody>
                    <a:bodyPr/>
                    <a:lstStyle/>
                    <a:p>
                      <a:r>
                        <a:rPr lang="en-US" dirty="0"/>
                        <a:t>300</a:t>
                      </a:r>
                    </a:p>
                  </a:txBody>
                  <a:tcPr/>
                </a:tc>
                <a:tc>
                  <a:txBody>
                    <a:bodyPr/>
                    <a:lstStyle/>
                    <a:p>
                      <a:r>
                        <a:rPr lang="en-US" dirty="0"/>
                        <a:t>Customer order details</a:t>
                      </a:r>
                    </a:p>
                  </a:txBody>
                  <a:tcPr/>
                </a:tc>
                <a:extLst>
                  <a:ext uri="{0D108BD9-81ED-4DB2-BD59-A6C34878D82A}">
                    <a16:rowId xmlns:a16="http://schemas.microsoft.com/office/drawing/2014/main" val="1531334242"/>
                  </a:ext>
                </a:extLst>
              </a:tr>
              <a:tr h="292388">
                <a:tc>
                  <a:txBody>
                    <a:bodyPr/>
                    <a:lstStyle/>
                    <a:p>
                      <a:r>
                        <a:rPr lang="en-US" dirty="0"/>
                        <a:t>Shipments</a:t>
                      </a:r>
                    </a:p>
                  </a:txBody>
                  <a:tcPr/>
                </a:tc>
                <a:tc>
                  <a:txBody>
                    <a:bodyPr/>
                    <a:lstStyle/>
                    <a:p>
                      <a:r>
                        <a:rPr lang="en-US" dirty="0"/>
                        <a:t>1000</a:t>
                      </a:r>
                    </a:p>
                  </a:txBody>
                  <a:tcPr/>
                </a:tc>
                <a:tc>
                  <a:txBody>
                    <a:bodyPr/>
                    <a:lstStyle/>
                    <a:p>
                      <a:r>
                        <a:rPr lang="en-US" dirty="0"/>
                        <a:t>Shipment tracking information</a:t>
                      </a:r>
                    </a:p>
                  </a:txBody>
                  <a:tcPr/>
                </a:tc>
                <a:extLst>
                  <a:ext uri="{0D108BD9-81ED-4DB2-BD59-A6C34878D82A}">
                    <a16:rowId xmlns:a16="http://schemas.microsoft.com/office/drawing/2014/main" val="2852583080"/>
                  </a:ext>
                </a:extLst>
              </a:tr>
              <a:tr h="292388">
                <a:tc>
                  <a:txBody>
                    <a:bodyPr/>
                    <a:lstStyle/>
                    <a:p>
                      <a:r>
                        <a:rPr lang="en-US" dirty="0"/>
                        <a:t>Routes</a:t>
                      </a:r>
                    </a:p>
                  </a:txBody>
                  <a:tcPr/>
                </a:tc>
                <a:tc>
                  <a:txBody>
                    <a:bodyPr/>
                    <a:lstStyle/>
                    <a:p>
                      <a:r>
                        <a:rPr lang="en-US" dirty="0"/>
                        <a:t>20</a:t>
                      </a:r>
                    </a:p>
                  </a:txBody>
                  <a:tcPr/>
                </a:tc>
                <a:tc>
                  <a:txBody>
                    <a:bodyPr/>
                    <a:lstStyle/>
                    <a:p>
                      <a:r>
                        <a:rPr lang="en-US" dirty="0"/>
                        <a:t>Route and transit details</a:t>
                      </a:r>
                    </a:p>
                  </a:txBody>
                  <a:tcPr/>
                </a:tc>
                <a:extLst>
                  <a:ext uri="{0D108BD9-81ED-4DB2-BD59-A6C34878D82A}">
                    <a16:rowId xmlns:a16="http://schemas.microsoft.com/office/drawing/2014/main" val="3102520429"/>
                  </a:ext>
                </a:extLst>
              </a:tr>
              <a:tr h="292388">
                <a:tc>
                  <a:txBody>
                    <a:bodyPr/>
                    <a:lstStyle/>
                    <a:p>
                      <a:r>
                        <a:rPr lang="en-US" dirty="0"/>
                        <a:t>Warehouses</a:t>
                      </a:r>
                    </a:p>
                  </a:txBody>
                  <a:tcPr/>
                </a:tc>
                <a:tc>
                  <a:txBody>
                    <a:bodyPr/>
                    <a:lstStyle/>
                    <a:p>
                      <a:r>
                        <a:rPr lang="en-US" dirty="0"/>
                        <a:t>10</a:t>
                      </a:r>
                    </a:p>
                  </a:txBody>
                  <a:tcPr/>
                </a:tc>
                <a:tc>
                  <a:txBody>
                    <a:bodyPr/>
                    <a:lstStyle/>
                    <a:p>
                      <a:r>
                        <a:rPr lang="en-US" dirty="0"/>
                        <a:t>Warehouse information</a:t>
                      </a:r>
                    </a:p>
                  </a:txBody>
                  <a:tcPr/>
                </a:tc>
                <a:extLst>
                  <a:ext uri="{0D108BD9-81ED-4DB2-BD59-A6C34878D82A}">
                    <a16:rowId xmlns:a16="http://schemas.microsoft.com/office/drawing/2014/main" val="3954391148"/>
                  </a:ext>
                </a:extLst>
              </a:tr>
              <a:tr h="292388">
                <a:tc>
                  <a:txBody>
                    <a:bodyPr/>
                    <a:lstStyle/>
                    <a:p>
                      <a:r>
                        <a:rPr lang="en-US" dirty="0"/>
                        <a:t>Delivery Agents</a:t>
                      </a:r>
                    </a:p>
                  </a:txBody>
                  <a:tcPr/>
                </a:tc>
                <a:tc>
                  <a:txBody>
                    <a:bodyPr/>
                    <a:lstStyle/>
                    <a:p>
                      <a:r>
                        <a:rPr lang="en-US" dirty="0"/>
                        <a:t>50</a:t>
                      </a:r>
                    </a:p>
                  </a:txBody>
                  <a:tcPr/>
                </a:tc>
                <a:tc>
                  <a:txBody>
                    <a:bodyPr/>
                    <a:lstStyle/>
                    <a:p>
                      <a:r>
                        <a:rPr lang="en-US" dirty="0"/>
                        <a:t>Delivery agent performance</a:t>
                      </a:r>
                    </a:p>
                  </a:txBody>
                  <a:tcPr/>
                </a:tc>
                <a:extLst>
                  <a:ext uri="{0D108BD9-81ED-4DB2-BD59-A6C34878D82A}">
                    <a16:rowId xmlns:a16="http://schemas.microsoft.com/office/drawing/2014/main" val="3883100793"/>
                  </a:ext>
                </a:extLst>
              </a:tr>
            </a:tbl>
          </a:graphicData>
        </a:graphic>
      </p:graphicFrame>
      <p:sp>
        <p:nvSpPr>
          <p:cNvPr id="5" name="TextBox 4">
            <a:extLst>
              <a:ext uri="{FF2B5EF4-FFF2-40B4-BE49-F238E27FC236}">
                <a16:creationId xmlns:a16="http://schemas.microsoft.com/office/drawing/2014/main" id="{50444DF4-A0FD-D251-1846-FF417AC94C56}"/>
              </a:ext>
            </a:extLst>
          </p:cNvPr>
          <p:cNvSpPr txBox="1"/>
          <p:nvPr/>
        </p:nvSpPr>
        <p:spPr>
          <a:xfrm>
            <a:off x="838200" y="3501271"/>
            <a:ext cx="5355210" cy="1754326"/>
          </a:xfrm>
          <a:prstGeom prst="rect">
            <a:avLst/>
          </a:prstGeom>
          <a:noFill/>
        </p:spPr>
        <p:txBody>
          <a:bodyPr wrap="square" rtlCol="0">
            <a:spAutoFit/>
          </a:bodyPr>
          <a:lstStyle/>
          <a:p>
            <a:r>
              <a:rPr lang="en-US" b="1" dirty="0"/>
              <a:t>Key Relationships</a:t>
            </a:r>
          </a:p>
          <a:p>
            <a:pPr marL="285750" indent="-285750">
              <a:buFont typeface="Arial" panose="020B0604020202020204" pitchFamily="34" charset="0"/>
              <a:buChar char="•"/>
            </a:pPr>
            <a:r>
              <a:rPr lang="en-US" b="1" dirty="0"/>
              <a:t>Orders ↔ Shipments</a:t>
            </a:r>
            <a:r>
              <a:rPr lang="en-US" dirty="0"/>
              <a:t> → </a:t>
            </a:r>
            <a:r>
              <a:rPr lang="en-US" dirty="0" err="1"/>
              <a:t>Order_ID</a:t>
            </a:r>
            <a:r>
              <a:rPr lang="en-US" dirty="0"/>
              <a:t> </a:t>
            </a:r>
          </a:p>
          <a:p>
            <a:pPr marL="285750" indent="-285750">
              <a:buFont typeface="Arial" panose="020B0604020202020204" pitchFamily="34" charset="0"/>
              <a:buChar char="•"/>
            </a:pPr>
            <a:r>
              <a:rPr lang="en-US" b="1" dirty="0"/>
              <a:t>Shipments ↔ Routes</a:t>
            </a:r>
            <a:r>
              <a:rPr lang="en-US" dirty="0"/>
              <a:t> → </a:t>
            </a:r>
            <a:r>
              <a:rPr lang="en-US" dirty="0" err="1"/>
              <a:t>Route_ID</a:t>
            </a:r>
            <a:r>
              <a:rPr lang="en-US" dirty="0"/>
              <a:t> </a:t>
            </a:r>
          </a:p>
          <a:p>
            <a:pPr marL="285750" indent="-285750">
              <a:buFont typeface="Arial" panose="020B0604020202020204" pitchFamily="34" charset="0"/>
              <a:buChar char="•"/>
            </a:pPr>
            <a:r>
              <a:rPr lang="en-US" b="1" dirty="0"/>
              <a:t>Shipments ↔ Warehouses</a:t>
            </a:r>
            <a:r>
              <a:rPr lang="en-US" dirty="0"/>
              <a:t> → </a:t>
            </a:r>
            <a:r>
              <a:rPr lang="en-US" dirty="0" err="1"/>
              <a:t>Warehouse_ID</a:t>
            </a:r>
            <a:r>
              <a:rPr lang="en-US" dirty="0"/>
              <a:t> </a:t>
            </a:r>
          </a:p>
          <a:p>
            <a:pPr marL="285750" indent="-285750">
              <a:buFont typeface="Arial" panose="020B0604020202020204" pitchFamily="34" charset="0"/>
              <a:buChar char="•"/>
            </a:pPr>
            <a:r>
              <a:rPr lang="en-US" b="1" dirty="0"/>
              <a:t>Shipments ↔ Delivery Agents</a:t>
            </a:r>
            <a:r>
              <a:rPr lang="en-US" dirty="0"/>
              <a:t> → </a:t>
            </a:r>
            <a:r>
              <a:rPr lang="en-US" dirty="0" err="1"/>
              <a:t>Agent_ID</a:t>
            </a:r>
            <a:endParaRPr lang="en-US" dirty="0"/>
          </a:p>
          <a:p>
            <a:endParaRPr lang="en-US" dirty="0"/>
          </a:p>
        </p:txBody>
      </p:sp>
      <p:sp>
        <p:nvSpPr>
          <p:cNvPr id="6" name="TextBox 5">
            <a:extLst>
              <a:ext uri="{FF2B5EF4-FFF2-40B4-BE49-F238E27FC236}">
                <a16:creationId xmlns:a16="http://schemas.microsoft.com/office/drawing/2014/main" id="{FD287DB0-C94D-21FC-0518-4614B5EAAE1F}"/>
              </a:ext>
            </a:extLst>
          </p:cNvPr>
          <p:cNvSpPr txBox="1"/>
          <p:nvPr/>
        </p:nvSpPr>
        <p:spPr>
          <a:xfrm>
            <a:off x="1056395" y="5023395"/>
            <a:ext cx="5355210" cy="1200329"/>
          </a:xfrm>
          <a:prstGeom prst="rect">
            <a:avLst/>
          </a:prstGeom>
          <a:noFill/>
        </p:spPr>
        <p:txBody>
          <a:bodyPr wrap="square" rtlCol="0">
            <a:spAutoFit/>
          </a:bodyPr>
          <a:lstStyle/>
          <a:p>
            <a:r>
              <a:rPr lang="en-US" b="1" dirty="0"/>
              <a:t>Summary</a:t>
            </a:r>
            <a:r>
              <a:rPr lang="en-US" dirty="0"/>
              <a:t> -  The project uses five interconnected datasets to analyze delivery performance, route efficiency, warehouse operations, and delivery agent performance using SQL queries.</a:t>
            </a:r>
          </a:p>
        </p:txBody>
      </p:sp>
    </p:spTree>
    <p:extLst>
      <p:ext uri="{BB962C8B-B14F-4D97-AF65-F5344CB8AC3E}">
        <p14:creationId xmlns:p14="http://schemas.microsoft.com/office/powerpoint/2010/main" val="709734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1BC5-558A-5197-EC90-5FAC1E5BDE18}"/>
              </a:ext>
            </a:extLst>
          </p:cNvPr>
          <p:cNvSpPr>
            <a:spLocks noGrp="1"/>
          </p:cNvSpPr>
          <p:nvPr>
            <p:ph type="title"/>
          </p:nvPr>
        </p:nvSpPr>
        <p:spPr>
          <a:xfrm>
            <a:off x="3466583" y="412222"/>
            <a:ext cx="5257800" cy="1107017"/>
          </a:xfrm>
        </p:spPr>
        <p:txBody>
          <a:bodyPr>
            <a:normAutofit/>
          </a:bodyPr>
          <a:lstStyle/>
          <a:p>
            <a:pPr algn="ctr"/>
            <a:r>
              <a:rPr lang="en-US" sz="2700" b="1" dirty="0"/>
              <a:t>Data Cleaning &amp; Preparation</a:t>
            </a:r>
          </a:p>
        </p:txBody>
      </p:sp>
      <p:sp>
        <p:nvSpPr>
          <p:cNvPr id="3" name="Content Placeholder 2">
            <a:extLst>
              <a:ext uri="{FF2B5EF4-FFF2-40B4-BE49-F238E27FC236}">
                <a16:creationId xmlns:a16="http://schemas.microsoft.com/office/drawing/2014/main" id="{9E6F14FD-F5B4-5AEC-5883-C1C65CB6FAC8}"/>
              </a:ext>
            </a:extLst>
          </p:cNvPr>
          <p:cNvSpPr>
            <a:spLocks noGrp="1"/>
          </p:cNvSpPr>
          <p:nvPr>
            <p:ph idx="1"/>
          </p:nvPr>
        </p:nvSpPr>
        <p:spPr>
          <a:xfrm>
            <a:off x="6312342" y="3615950"/>
            <a:ext cx="5257800" cy="2424642"/>
          </a:xfrm>
        </p:spPr>
        <p:txBody>
          <a:bodyPr>
            <a:normAutofit/>
          </a:bodyPr>
          <a:lstStyle/>
          <a:p>
            <a:r>
              <a:rPr lang="en-US" sz="1800" dirty="0"/>
              <a:t>No duplicate </a:t>
            </a:r>
            <a:r>
              <a:rPr lang="en-US" sz="1800" dirty="0" err="1"/>
              <a:t>Order_ID</a:t>
            </a:r>
            <a:r>
              <a:rPr lang="en-US" sz="1800" dirty="0"/>
              <a:t> records found. </a:t>
            </a:r>
          </a:p>
          <a:p>
            <a:r>
              <a:rPr lang="en-US" sz="1800" dirty="0"/>
              <a:t>No duplicate </a:t>
            </a:r>
            <a:r>
              <a:rPr lang="en-US" sz="1800" dirty="0" err="1"/>
              <a:t>Shipment_ID</a:t>
            </a:r>
            <a:r>
              <a:rPr lang="en-US" sz="1800" dirty="0"/>
              <a:t> records found.</a:t>
            </a:r>
          </a:p>
          <a:p>
            <a:r>
              <a:rPr lang="en-US" sz="1800" dirty="0"/>
              <a:t>No missing values found in </a:t>
            </a:r>
            <a:r>
              <a:rPr lang="en-US" sz="1800" dirty="0" err="1"/>
              <a:t>Delay_Hours</a:t>
            </a:r>
            <a:r>
              <a:rPr lang="en-US" sz="1800" dirty="0"/>
              <a:t>.</a:t>
            </a:r>
          </a:p>
          <a:p>
            <a:r>
              <a:rPr lang="en-US" sz="1800" dirty="0"/>
              <a:t>All delivery dates are valid.</a:t>
            </a:r>
          </a:p>
          <a:p>
            <a:r>
              <a:rPr lang="en-US" sz="1800" dirty="0"/>
              <a:t>Referential integrity maintained across all tables.</a:t>
            </a:r>
          </a:p>
          <a:p>
            <a:r>
              <a:rPr lang="en-US" sz="1800" dirty="0"/>
              <a:t>Dataset is clean and ready for analysis.</a:t>
            </a:r>
          </a:p>
        </p:txBody>
      </p:sp>
      <p:pic>
        <p:nvPicPr>
          <p:cNvPr id="5" name="Picture 4">
            <a:extLst>
              <a:ext uri="{FF2B5EF4-FFF2-40B4-BE49-F238E27FC236}">
                <a16:creationId xmlns:a16="http://schemas.microsoft.com/office/drawing/2014/main" id="{E9C31D6D-581D-5D72-DFAB-DA5C37E93C03}"/>
              </a:ext>
            </a:extLst>
          </p:cNvPr>
          <p:cNvPicPr>
            <a:picLocks noChangeAspect="1"/>
          </p:cNvPicPr>
          <p:nvPr/>
        </p:nvPicPr>
        <p:blipFill>
          <a:blip r:embed="rId2"/>
          <a:stretch>
            <a:fillRect/>
          </a:stretch>
        </p:blipFill>
        <p:spPr>
          <a:xfrm>
            <a:off x="421835" y="1764354"/>
            <a:ext cx="2924175" cy="800100"/>
          </a:xfrm>
          <a:prstGeom prst="rect">
            <a:avLst/>
          </a:prstGeom>
        </p:spPr>
      </p:pic>
      <p:pic>
        <p:nvPicPr>
          <p:cNvPr id="7" name="Picture 6">
            <a:extLst>
              <a:ext uri="{FF2B5EF4-FFF2-40B4-BE49-F238E27FC236}">
                <a16:creationId xmlns:a16="http://schemas.microsoft.com/office/drawing/2014/main" id="{44B9CD9C-DC4F-EA03-7318-4B61A84F6F74}"/>
              </a:ext>
            </a:extLst>
          </p:cNvPr>
          <p:cNvPicPr>
            <a:picLocks noChangeAspect="1"/>
          </p:cNvPicPr>
          <p:nvPr/>
        </p:nvPicPr>
        <p:blipFill>
          <a:blip r:embed="rId3"/>
          <a:stretch>
            <a:fillRect/>
          </a:stretch>
        </p:blipFill>
        <p:spPr>
          <a:xfrm>
            <a:off x="546367" y="2811901"/>
            <a:ext cx="1914525" cy="914400"/>
          </a:xfrm>
          <a:prstGeom prst="rect">
            <a:avLst/>
          </a:prstGeom>
        </p:spPr>
      </p:pic>
      <p:pic>
        <p:nvPicPr>
          <p:cNvPr id="9" name="Picture 8">
            <a:extLst>
              <a:ext uri="{FF2B5EF4-FFF2-40B4-BE49-F238E27FC236}">
                <a16:creationId xmlns:a16="http://schemas.microsoft.com/office/drawing/2014/main" id="{F3F62DBD-3FE0-44D8-A53B-F0FC52BB7F9A}"/>
              </a:ext>
            </a:extLst>
          </p:cNvPr>
          <p:cNvPicPr>
            <a:picLocks noChangeAspect="1"/>
          </p:cNvPicPr>
          <p:nvPr/>
        </p:nvPicPr>
        <p:blipFill>
          <a:blip r:embed="rId4"/>
          <a:stretch>
            <a:fillRect/>
          </a:stretch>
        </p:blipFill>
        <p:spPr>
          <a:xfrm>
            <a:off x="4481512" y="1761743"/>
            <a:ext cx="3228975" cy="619125"/>
          </a:xfrm>
          <a:prstGeom prst="rect">
            <a:avLst/>
          </a:prstGeom>
        </p:spPr>
      </p:pic>
      <p:pic>
        <p:nvPicPr>
          <p:cNvPr id="11" name="Picture 10">
            <a:extLst>
              <a:ext uri="{FF2B5EF4-FFF2-40B4-BE49-F238E27FC236}">
                <a16:creationId xmlns:a16="http://schemas.microsoft.com/office/drawing/2014/main" id="{8E4A00AB-45B1-5EA9-21D0-21B8145DB6E0}"/>
              </a:ext>
            </a:extLst>
          </p:cNvPr>
          <p:cNvPicPr>
            <a:picLocks noChangeAspect="1"/>
          </p:cNvPicPr>
          <p:nvPr/>
        </p:nvPicPr>
        <p:blipFill>
          <a:blip r:embed="rId5"/>
          <a:stretch>
            <a:fillRect/>
          </a:stretch>
        </p:blipFill>
        <p:spPr>
          <a:xfrm>
            <a:off x="4792188" y="2598349"/>
            <a:ext cx="5651111" cy="539176"/>
          </a:xfrm>
          <a:prstGeom prst="rect">
            <a:avLst/>
          </a:prstGeom>
        </p:spPr>
      </p:pic>
      <p:pic>
        <p:nvPicPr>
          <p:cNvPr id="13" name="Picture 12">
            <a:extLst>
              <a:ext uri="{FF2B5EF4-FFF2-40B4-BE49-F238E27FC236}">
                <a16:creationId xmlns:a16="http://schemas.microsoft.com/office/drawing/2014/main" id="{87FAA1B6-9AD7-767C-DD59-946BAE87F9E0}"/>
              </a:ext>
            </a:extLst>
          </p:cNvPr>
          <p:cNvPicPr>
            <a:picLocks noChangeAspect="1"/>
          </p:cNvPicPr>
          <p:nvPr/>
        </p:nvPicPr>
        <p:blipFill>
          <a:blip r:embed="rId6"/>
          <a:stretch>
            <a:fillRect/>
          </a:stretch>
        </p:blipFill>
        <p:spPr>
          <a:xfrm>
            <a:off x="735349" y="3973749"/>
            <a:ext cx="2828925" cy="952500"/>
          </a:xfrm>
          <a:prstGeom prst="rect">
            <a:avLst/>
          </a:prstGeom>
        </p:spPr>
      </p:pic>
      <p:pic>
        <p:nvPicPr>
          <p:cNvPr id="15" name="Picture 14">
            <a:extLst>
              <a:ext uri="{FF2B5EF4-FFF2-40B4-BE49-F238E27FC236}">
                <a16:creationId xmlns:a16="http://schemas.microsoft.com/office/drawing/2014/main" id="{A557C2D9-D0C0-263B-1C69-CFA54323F01B}"/>
              </a:ext>
            </a:extLst>
          </p:cNvPr>
          <p:cNvPicPr>
            <a:picLocks noChangeAspect="1"/>
          </p:cNvPicPr>
          <p:nvPr/>
        </p:nvPicPr>
        <p:blipFill>
          <a:blip r:embed="rId7"/>
          <a:stretch>
            <a:fillRect/>
          </a:stretch>
        </p:blipFill>
        <p:spPr>
          <a:xfrm>
            <a:off x="1395817" y="5441398"/>
            <a:ext cx="1209675" cy="800100"/>
          </a:xfrm>
          <a:prstGeom prst="rect">
            <a:avLst/>
          </a:prstGeom>
        </p:spPr>
      </p:pic>
      <p:sp>
        <p:nvSpPr>
          <p:cNvPr id="17" name="TextBox 16">
            <a:extLst>
              <a:ext uri="{FF2B5EF4-FFF2-40B4-BE49-F238E27FC236}">
                <a16:creationId xmlns:a16="http://schemas.microsoft.com/office/drawing/2014/main" id="{C0904D71-85AF-EB39-47F5-0A602FF78EBF}"/>
              </a:ext>
            </a:extLst>
          </p:cNvPr>
          <p:cNvSpPr txBox="1"/>
          <p:nvPr/>
        </p:nvSpPr>
        <p:spPr>
          <a:xfrm>
            <a:off x="4376014" y="-21535"/>
            <a:ext cx="3438939" cy="461665"/>
          </a:xfrm>
          <a:prstGeom prst="rect">
            <a:avLst/>
          </a:prstGeom>
          <a:noFill/>
        </p:spPr>
        <p:txBody>
          <a:bodyPr wrap="square" rtlCol="0">
            <a:spAutoFit/>
          </a:bodyPr>
          <a:lstStyle/>
          <a:p>
            <a:pPr algn="ctr"/>
            <a:r>
              <a:rPr lang="en-IN" sz="2400" dirty="0"/>
              <a:t>Task 1</a:t>
            </a:r>
            <a:endParaRPr lang="en-US" sz="2400" dirty="0"/>
          </a:p>
        </p:txBody>
      </p:sp>
    </p:spTree>
    <p:extLst>
      <p:ext uri="{BB962C8B-B14F-4D97-AF65-F5344CB8AC3E}">
        <p14:creationId xmlns:p14="http://schemas.microsoft.com/office/powerpoint/2010/main" val="1312399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2A4176-C717-35BC-2BA9-DF7B5DDBE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651" y="1165182"/>
            <a:ext cx="6131345" cy="1307674"/>
          </a:xfrm>
          <a:prstGeom prst="rect">
            <a:avLst/>
          </a:prstGeom>
        </p:spPr>
      </p:pic>
      <p:pic>
        <p:nvPicPr>
          <p:cNvPr id="4" name="Picture 3">
            <a:extLst>
              <a:ext uri="{FF2B5EF4-FFF2-40B4-BE49-F238E27FC236}">
                <a16:creationId xmlns:a16="http://schemas.microsoft.com/office/drawing/2014/main" id="{A0681419-5C2A-85EB-CAF0-7C4E0DB982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651" y="2562781"/>
            <a:ext cx="5412165" cy="2643493"/>
          </a:xfrm>
          <a:prstGeom prst="rect">
            <a:avLst/>
          </a:prstGeom>
        </p:spPr>
      </p:pic>
      <p:graphicFrame>
        <p:nvGraphicFramePr>
          <p:cNvPr id="9" name="Chart 8">
            <a:extLst>
              <a:ext uri="{FF2B5EF4-FFF2-40B4-BE49-F238E27FC236}">
                <a16:creationId xmlns:a16="http://schemas.microsoft.com/office/drawing/2014/main" id="{B20E2C69-FF60-DCB9-E660-862BF37727AA}"/>
              </a:ext>
            </a:extLst>
          </p:cNvPr>
          <p:cNvGraphicFramePr>
            <a:graphicFrameLocks/>
          </p:cNvGraphicFramePr>
          <p:nvPr>
            <p:extLst>
              <p:ext uri="{D42A27DB-BD31-4B8C-83A1-F6EECF244321}">
                <p14:modId xmlns:p14="http://schemas.microsoft.com/office/powerpoint/2010/main" val="3805416851"/>
              </p:ext>
            </p:extLst>
          </p:nvPr>
        </p:nvGraphicFramePr>
        <p:xfrm>
          <a:off x="6416702" y="1574684"/>
          <a:ext cx="5412165" cy="4531918"/>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0B587721-FEF2-C583-F9EB-EE8C0DCE6C8B}"/>
              </a:ext>
            </a:extLst>
          </p:cNvPr>
          <p:cNvSpPr txBox="1"/>
          <p:nvPr/>
        </p:nvSpPr>
        <p:spPr>
          <a:xfrm>
            <a:off x="4749248" y="57651"/>
            <a:ext cx="2693504" cy="461665"/>
          </a:xfrm>
          <a:prstGeom prst="rect">
            <a:avLst/>
          </a:prstGeom>
          <a:noFill/>
        </p:spPr>
        <p:txBody>
          <a:bodyPr wrap="square" rtlCol="0">
            <a:spAutoFit/>
          </a:bodyPr>
          <a:lstStyle/>
          <a:p>
            <a:pPr algn="ctr"/>
            <a:r>
              <a:rPr lang="en-IN" sz="2400" dirty="0"/>
              <a:t>Task 2</a:t>
            </a:r>
            <a:endParaRPr lang="en-US" sz="2400" dirty="0"/>
          </a:p>
        </p:txBody>
      </p:sp>
      <p:sp>
        <p:nvSpPr>
          <p:cNvPr id="11" name="Title 1">
            <a:extLst>
              <a:ext uri="{FF2B5EF4-FFF2-40B4-BE49-F238E27FC236}">
                <a16:creationId xmlns:a16="http://schemas.microsoft.com/office/drawing/2014/main" id="{DDA0277C-115C-1C74-127D-8666BCBB85EE}"/>
              </a:ext>
            </a:extLst>
          </p:cNvPr>
          <p:cNvSpPr txBox="1">
            <a:spLocks/>
          </p:cNvSpPr>
          <p:nvPr/>
        </p:nvSpPr>
        <p:spPr>
          <a:xfrm>
            <a:off x="2805816" y="519316"/>
            <a:ext cx="6580367" cy="62878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t>Delivery Delay Analysis</a:t>
            </a:r>
            <a:endParaRPr lang="en-US" b="1" dirty="0"/>
          </a:p>
        </p:txBody>
      </p:sp>
    </p:spTree>
    <p:extLst>
      <p:ext uri="{BB962C8B-B14F-4D97-AF65-F5344CB8AC3E}">
        <p14:creationId xmlns:p14="http://schemas.microsoft.com/office/powerpoint/2010/main" val="3698480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2CC2568-BCC0-44AC-FCD3-E3D3585846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821" y="1984562"/>
            <a:ext cx="6255077" cy="1307278"/>
          </a:xfrm>
          <a:prstGeom prst="rect">
            <a:avLst/>
          </a:prstGeom>
        </p:spPr>
      </p:pic>
      <p:graphicFrame>
        <p:nvGraphicFramePr>
          <p:cNvPr id="5" name="Chart 4">
            <a:extLst>
              <a:ext uri="{FF2B5EF4-FFF2-40B4-BE49-F238E27FC236}">
                <a16:creationId xmlns:a16="http://schemas.microsoft.com/office/drawing/2014/main" id="{E478B204-828E-BD50-1233-38EC31BAB542}"/>
              </a:ext>
            </a:extLst>
          </p:cNvPr>
          <p:cNvGraphicFramePr>
            <a:graphicFrameLocks/>
          </p:cNvGraphicFramePr>
          <p:nvPr>
            <p:extLst>
              <p:ext uri="{D42A27DB-BD31-4B8C-83A1-F6EECF244321}">
                <p14:modId xmlns:p14="http://schemas.microsoft.com/office/powerpoint/2010/main" val="695331430"/>
              </p:ext>
            </p:extLst>
          </p:nvPr>
        </p:nvGraphicFramePr>
        <p:xfrm>
          <a:off x="7230874" y="2107096"/>
          <a:ext cx="4122926" cy="3524778"/>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4580C203-7631-49DF-956B-FFD0C9D3B1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821" y="3585714"/>
            <a:ext cx="6645312" cy="1749611"/>
          </a:xfrm>
          <a:prstGeom prst="rect">
            <a:avLst/>
          </a:prstGeom>
        </p:spPr>
      </p:pic>
      <p:sp>
        <p:nvSpPr>
          <p:cNvPr id="4" name="TextBox 3">
            <a:extLst>
              <a:ext uri="{FF2B5EF4-FFF2-40B4-BE49-F238E27FC236}">
                <a16:creationId xmlns:a16="http://schemas.microsoft.com/office/drawing/2014/main" id="{EC2BEA13-4518-B7BA-B3F2-00A2A5E0839E}"/>
              </a:ext>
            </a:extLst>
          </p:cNvPr>
          <p:cNvSpPr txBox="1"/>
          <p:nvPr/>
        </p:nvSpPr>
        <p:spPr>
          <a:xfrm>
            <a:off x="4749248" y="57651"/>
            <a:ext cx="2693504" cy="461665"/>
          </a:xfrm>
          <a:prstGeom prst="rect">
            <a:avLst/>
          </a:prstGeom>
          <a:noFill/>
        </p:spPr>
        <p:txBody>
          <a:bodyPr wrap="square" rtlCol="0">
            <a:spAutoFit/>
          </a:bodyPr>
          <a:lstStyle/>
          <a:p>
            <a:pPr algn="ctr"/>
            <a:r>
              <a:rPr lang="en-IN" sz="2400" dirty="0"/>
              <a:t>Task 2</a:t>
            </a:r>
            <a:endParaRPr lang="en-US" sz="2400" dirty="0"/>
          </a:p>
        </p:txBody>
      </p:sp>
      <p:sp>
        <p:nvSpPr>
          <p:cNvPr id="11" name="Title 1">
            <a:extLst>
              <a:ext uri="{FF2B5EF4-FFF2-40B4-BE49-F238E27FC236}">
                <a16:creationId xmlns:a16="http://schemas.microsoft.com/office/drawing/2014/main" id="{281E74D7-66F3-39DF-3AC8-4D8E5543F217}"/>
              </a:ext>
            </a:extLst>
          </p:cNvPr>
          <p:cNvSpPr txBox="1">
            <a:spLocks/>
          </p:cNvSpPr>
          <p:nvPr/>
        </p:nvSpPr>
        <p:spPr>
          <a:xfrm>
            <a:off x="2805816" y="519316"/>
            <a:ext cx="6580367" cy="62878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t>Delivery Delay Analysis</a:t>
            </a:r>
            <a:endParaRPr lang="en-US" b="1" dirty="0"/>
          </a:p>
        </p:txBody>
      </p:sp>
    </p:spTree>
    <p:extLst>
      <p:ext uri="{BB962C8B-B14F-4D97-AF65-F5344CB8AC3E}">
        <p14:creationId xmlns:p14="http://schemas.microsoft.com/office/powerpoint/2010/main" val="2517743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55303-77C6-EBEA-A676-2D845905D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815" y="2957883"/>
            <a:ext cx="4383662" cy="2568603"/>
          </a:xfrm>
          <a:prstGeom prst="rect">
            <a:avLst/>
          </a:prstGeom>
        </p:spPr>
      </p:pic>
      <p:pic>
        <p:nvPicPr>
          <p:cNvPr id="7" name="Picture 6">
            <a:extLst>
              <a:ext uri="{FF2B5EF4-FFF2-40B4-BE49-F238E27FC236}">
                <a16:creationId xmlns:a16="http://schemas.microsoft.com/office/drawing/2014/main" id="{D3CAB727-A826-867B-B528-9E67879BD6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758" y="1062408"/>
            <a:ext cx="4295775" cy="1895475"/>
          </a:xfrm>
          <a:prstGeom prst="rect">
            <a:avLst/>
          </a:prstGeom>
        </p:spPr>
      </p:pic>
      <p:graphicFrame>
        <p:nvGraphicFramePr>
          <p:cNvPr id="9" name="Chart 8">
            <a:extLst>
              <a:ext uri="{FF2B5EF4-FFF2-40B4-BE49-F238E27FC236}">
                <a16:creationId xmlns:a16="http://schemas.microsoft.com/office/drawing/2014/main" id="{E4D77CE5-D4E9-2351-AE7A-67C31E110022}"/>
              </a:ext>
            </a:extLst>
          </p:cNvPr>
          <p:cNvGraphicFramePr>
            <a:graphicFrameLocks/>
          </p:cNvGraphicFramePr>
          <p:nvPr>
            <p:extLst>
              <p:ext uri="{D42A27DB-BD31-4B8C-83A1-F6EECF244321}">
                <p14:modId xmlns:p14="http://schemas.microsoft.com/office/powerpoint/2010/main" val="4093111559"/>
              </p:ext>
            </p:extLst>
          </p:nvPr>
        </p:nvGraphicFramePr>
        <p:xfrm>
          <a:off x="5780598" y="1542553"/>
          <a:ext cx="5965924" cy="4623784"/>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8CDFC3BB-D443-DAFB-4B1A-6FDEDDA685E6}"/>
              </a:ext>
            </a:extLst>
          </p:cNvPr>
          <p:cNvSpPr txBox="1"/>
          <p:nvPr/>
        </p:nvSpPr>
        <p:spPr>
          <a:xfrm>
            <a:off x="4749248" y="57651"/>
            <a:ext cx="2693504" cy="461665"/>
          </a:xfrm>
          <a:prstGeom prst="rect">
            <a:avLst/>
          </a:prstGeom>
          <a:noFill/>
        </p:spPr>
        <p:txBody>
          <a:bodyPr wrap="square" rtlCol="0">
            <a:spAutoFit/>
          </a:bodyPr>
          <a:lstStyle/>
          <a:p>
            <a:pPr algn="ctr"/>
            <a:r>
              <a:rPr lang="en-IN" sz="2400" dirty="0"/>
              <a:t>Task 2</a:t>
            </a:r>
            <a:endParaRPr lang="en-US" sz="2400" dirty="0"/>
          </a:p>
        </p:txBody>
      </p:sp>
      <p:sp>
        <p:nvSpPr>
          <p:cNvPr id="11" name="Title 1">
            <a:extLst>
              <a:ext uri="{FF2B5EF4-FFF2-40B4-BE49-F238E27FC236}">
                <a16:creationId xmlns:a16="http://schemas.microsoft.com/office/drawing/2014/main" id="{743E2B30-B7D6-D4EA-60E2-CDB2AA7C6704}"/>
              </a:ext>
            </a:extLst>
          </p:cNvPr>
          <p:cNvSpPr txBox="1">
            <a:spLocks/>
          </p:cNvSpPr>
          <p:nvPr/>
        </p:nvSpPr>
        <p:spPr>
          <a:xfrm>
            <a:off x="2805816" y="519316"/>
            <a:ext cx="6580367" cy="62878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t>Delivery Delay Analysis</a:t>
            </a:r>
            <a:endParaRPr lang="en-US" b="1" dirty="0"/>
          </a:p>
        </p:txBody>
      </p:sp>
    </p:spTree>
    <p:extLst>
      <p:ext uri="{BB962C8B-B14F-4D97-AF65-F5344CB8AC3E}">
        <p14:creationId xmlns:p14="http://schemas.microsoft.com/office/powerpoint/2010/main" val="2365741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897378-736B-9CB1-32CF-62DB3120E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923" y="3569762"/>
            <a:ext cx="5334000" cy="942975"/>
          </a:xfrm>
          <a:prstGeom prst="rect">
            <a:avLst/>
          </a:prstGeom>
        </p:spPr>
      </p:pic>
      <p:pic>
        <p:nvPicPr>
          <p:cNvPr id="7" name="Picture 6">
            <a:extLst>
              <a:ext uri="{FF2B5EF4-FFF2-40B4-BE49-F238E27FC236}">
                <a16:creationId xmlns:a16="http://schemas.microsoft.com/office/drawing/2014/main" id="{1726C149-4F3A-7E5A-FDAD-46F2D13A1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0749" y="1564874"/>
            <a:ext cx="4467225" cy="1438275"/>
          </a:xfrm>
          <a:prstGeom prst="rect">
            <a:avLst/>
          </a:prstGeom>
        </p:spPr>
      </p:pic>
      <p:sp>
        <p:nvSpPr>
          <p:cNvPr id="3" name="TextBox 2">
            <a:extLst>
              <a:ext uri="{FF2B5EF4-FFF2-40B4-BE49-F238E27FC236}">
                <a16:creationId xmlns:a16="http://schemas.microsoft.com/office/drawing/2014/main" id="{CCAF4A2F-A85A-329F-CA05-171187357875}"/>
              </a:ext>
            </a:extLst>
          </p:cNvPr>
          <p:cNvSpPr txBox="1"/>
          <p:nvPr/>
        </p:nvSpPr>
        <p:spPr>
          <a:xfrm>
            <a:off x="4749248" y="57651"/>
            <a:ext cx="2693504" cy="461665"/>
          </a:xfrm>
          <a:prstGeom prst="rect">
            <a:avLst/>
          </a:prstGeom>
          <a:noFill/>
        </p:spPr>
        <p:txBody>
          <a:bodyPr wrap="square" rtlCol="0">
            <a:spAutoFit/>
          </a:bodyPr>
          <a:lstStyle/>
          <a:p>
            <a:pPr algn="ctr"/>
            <a:r>
              <a:rPr lang="en-IN" sz="2400" dirty="0"/>
              <a:t>Task 2</a:t>
            </a:r>
            <a:endParaRPr lang="en-US" sz="2400" dirty="0"/>
          </a:p>
        </p:txBody>
      </p:sp>
      <p:sp>
        <p:nvSpPr>
          <p:cNvPr id="8" name="Title 1">
            <a:extLst>
              <a:ext uri="{FF2B5EF4-FFF2-40B4-BE49-F238E27FC236}">
                <a16:creationId xmlns:a16="http://schemas.microsoft.com/office/drawing/2014/main" id="{75FD645D-E9E8-EE7F-9FFB-3036B012197B}"/>
              </a:ext>
            </a:extLst>
          </p:cNvPr>
          <p:cNvSpPr txBox="1">
            <a:spLocks/>
          </p:cNvSpPr>
          <p:nvPr/>
        </p:nvSpPr>
        <p:spPr>
          <a:xfrm>
            <a:off x="2805816" y="519316"/>
            <a:ext cx="6580367" cy="62878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t>Delivery Delay Analysis</a:t>
            </a:r>
            <a:endParaRPr lang="en-US" b="1" dirty="0"/>
          </a:p>
        </p:txBody>
      </p:sp>
    </p:spTree>
    <p:extLst>
      <p:ext uri="{BB962C8B-B14F-4D97-AF65-F5344CB8AC3E}">
        <p14:creationId xmlns:p14="http://schemas.microsoft.com/office/powerpoint/2010/main" val="2972995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8558E-A424-44EE-0711-E48074287E03}"/>
              </a:ext>
            </a:extLst>
          </p:cNvPr>
          <p:cNvSpPr>
            <a:spLocks noGrp="1"/>
          </p:cNvSpPr>
          <p:nvPr>
            <p:ph type="title"/>
          </p:nvPr>
        </p:nvSpPr>
        <p:spPr/>
        <p:txBody>
          <a:bodyPr>
            <a:normAutofit/>
          </a:bodyPr>
          <a:lstStyle/>
          <a:p>
            <a:r>
              <a:rPr lang="en-US" sz="2800" dirty="0"/>
              <a:t>Insights</a:t>
            </a:r>
          </a:p>
        </p:txBody>
      </p:sp>
      <p:sp>
        <p:nvSpPr>
          <p:cNvPr id="3" name="Content Placeholder 2">
            <a:extLst>
              <a:ext uri="{FF2B5EF4-FFF2-40B4-BE49-F238E27FC236}">
                <a16:creationId xmlns:a16="http://schemas.microsoft.com/office/drawing/2014/main" id="{EC05478C-A447-1933-C9F8-6C4E4C7E5C53}"/>
              </a:ext>
            </a:extLst>
          </p:cNvPr>
          <p:cNvSpPr>
            <a:spLocks noGrp="1"/>
          </p:cNvSpPr>
          <p:nvPr>
            <p:ph idx="1"/>
          </p:nvPr>
        </p:nvSpPr>
        <p:spPr/>
        <p:txBody>
          <a:bodyPr/>
          <a:lstStyle/>
          <a:p>
            <a:r>
              <a:rPr lang="en-US" dirty="0"/>
              <a:t>Average delivery delay was calculated for every shipment. </a:t>
            </a:r>
          </a:p>
          <a:p>
            <a:r>
              <a:rPr lang="en-US" dirty="0"/>
              <a:t>Top delayed routes were identified using average delay hours. </a:t>
            </a:r>
          </a:p>
          <a:p>
            <a:r>
              <a:rPr lang="en-US" dirty="0"/>
              <a:t>Shipments were ranked within each warehouse using SQL window functions. </a:t>
            </a:r>
          </a:p>
          <a:p>
            <a:r>
              <a:rPr lang="en-US" dirty="0"/>
              <a:t>Express deliveries showed a higher average delay (22.50 hours) than Standard deliveries (20.85 hours). </a:t>
            </a:r>
          </a:p>
          <a:p>
            <a:r>
              <a:rPr lang="en-US" dirty="0"/>
              <a:t>Delay analysis helps identify operational bottlenecks and improve service quality. </a:t>
            </a:r>
          </a:p>
          <a:p>
            <a:endParaRPr lang="en-US" dirty="0"/>
          </a:p>
        </p:txBody>
      </p:sp>
      <p:sp>
        <p:nvSpPr>
          <p:cNvPr id="5" name="TextBox 4">
            <a:extLst>
              <a:ext uri="{FF2B5EF4-FFF2-40B4-BE49-F238E27FC236}">
                <a16:creationId xmlns:a16="http://schemas.microsoft.com/office/drawing/2014/main" id="{2F9F5AEE-73AE-6F06-6EEF-3777AE1C0247}"/>
              </a:ext>
            </a:extLst>
          </p:cNvPr>
          <p:cNvSpPr txBox="1"/>
          <p:nvPr/>
        </p:nvSpPr>
        <p:spPr>
          <a:xfrm>
            <a:off x="4749248" y="57651"/>
            <a:ext cx="2693504" cy="461665"/>
          </a:xfrm>
          <a:prstGeom prst="rect">
            <a:avLst/>
          </a:prstGeom>
          <a:noFill/>
        </p:spPr>
        <p:txBody>
          <a:bodyPr wrap="square" rtlCol="0">
            <a:spAutoFit/>
          </a:bodyPr>
          <a:lstStyle/>
          <a:p>
            <a:pPr algn="ctr"/>
            <a:r>
              <a:rPr lang="en-IN" sz="2400" dirty="0"/>
              <a:t>Task 2</a:t>
            </a:r>
            <a:endParaRPr lang="en-US" sz="2400" dirty="0"/>
          </a:p>
        </p:txBody>
      </p:sp>
      <p:sp>
        <p:nvSpPr>
          <p:cNvPr id="6" name="Title 1">
            <a:extLst>
              <a:ext uri="{FF2B5EF4-FFF2-40B4-BE49-F238E27FC236}">
                <a16:creationId xmlns:a16="http://schemas.microsoft.com/office/drawing/2014/main" id="{1D8CF434-1DBA-4E8B-CA93-858D2F223E43}"/>
              </a:ext>
            </a:extLst>
          </p:cNvPr>
          <p:cNvSpPr txBox="1">
            <a:spLocks/>
          </p:cNvSpPr>
          <p:nvPr/>
        </p:nvSpPr>
        <p:spPr>
          <a:xfrm>
            <a:off x="2805816" y="519316"/>
            <a:ext cx="6580367" cy="62878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t>Delivery Delay Analysis</a:t>
            </a:r>
            <a:endParaRPr lang="en-US" b="1" dirty="0"/>
          </a:p>
        </p:txBody>
      </p:sp>
    </p:spTree>
    <p:extLst>
      <p:ext uri="{BB962C8B-B14F-4D97-AF65-F5344CB8AC3E}">
        <p14:creationId xmlns:p14="http://schemas.microsoft.com/office/powerpoint/2010/main" val="3329106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D9402-81BF-1F0A-4248-6E37E2E9E333}"/>
              </a:ext>
            </a:extLst>
          </p:cNvPr>
          <p:cNvSpPr>
            <a:spLocks noGrp="1"/>
          </p:cNvSpPr>
          <p:nvPr>
            <p:ph type="title"/>
          </p:nvPr>
        </p:nvSpPr>
        <p:spPr>
          <a:xfrm>
            <a:off x="2487764" y="436686"/>
            <a:ext cx="7216471" cy="756009"/>
          </a:xfrm>
        </p:spPr>
        <p:txBody>
          <a:bodyPr>
            <a:normAutofit/>
          </a:bodyPr>
          <a:lstStyle/>
          <a:p>
            <a:pPr algn="ctr"/>
            <a:r>
              <a:rPr lang="en-US" sz="2800" dirty="0"/>
              <a:t>Route Optimization Insights</a:t>
            </a:r>
          </a:p>
        </p:txBody>
      </p:sp>
      <p:pic>
        <p:nvPicPr>
          <p:cNvPr id="5" name="Content Placeholder 4">
            <a:extLst>
              <a:ext uri="{FF2B5EF4-FFF2-40B4-BE49-F238E27FC236}">
                <a16:creationId xmlns:a16="http://schemas.microsoft.com/office/drawing/2014/main" id="{041E1BDE-9D6E-1CA8-6893-0E1B112B28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4245" y="1338518"/>
            <a:ext cx="6972300" cy="1047750"/>
          </a:xfrm>
          <a:prstGeom prst="rect">
            <a:avLst/>
          </a:prstGeom>
        </p:spPr>
      </p:pic>
      <p:pic>
        <p:nvPicPr>
          <p:cNvPr id="7" name="Picture 6">
            <a:extLst>
              <a:ext uri="{FF2B5EF4-FFF2-40B4-BE49-F238E27FC236}">
                <a16:creationId xmlns:a16="http://schemas.microsoft.com/office/drawing/2014/main" id="{DD4B5BA3-6BC4-1DD8-8423-ABC1084ED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45" y="2386268"/>
            <a:ext cx="2156875" cy="3021271"/>
          </a:xfrm>
          <a:prstGeom prst="rect">
            <a:avLst/>
          </a:prstGeom>
        </p:spPr>
      </p:pic>
      <p:graphicFrame>
        <p:nvGraphicFramePr>
          <p:cNvPr id="9" name="Chart 8">
            <a:extLst>
              <a:ext uri="{FF2B5EF4-FFF2-40B4-BE49-F238E27FC236}">
                <a16:creationId xmlns:a16="http://schemas.microsoft.com/office/drawing/2014/main" id="{948013AD-DF75-3089-8DA2-C3ABFB12D961}"/>
              </a:ext>
            </a:extLst>
          </p:cNvPr>
          <p:cNvGraphicFramePr>
            <a:graphicFrameLocks/>
          </p:cNvGraphicFramePr>
          <p:nvPr>
            <p:extLst>
              <p:ext uri="{D42A27DB-BD31-4B8C-83A1-F6EECF244321}">
                <p14:modId xmlns:p14="http://schemas.microsoft.com/office/powerpoint/2010/main" val="1249978838"/>
              </p:ext>
            </p:extLst>
          </p:nvPr>
        </p:nvGraphicFramePr>
        <p:xfrm>
          <a:off x="3815466" y="2470283"/>
          <a:ext cx="8103083" cy="4185771"/>
        </p:xfrm>
        <a:graphic>
          <a:graphicData uri="http://schemas.openxmlformats.org/drawingml/2006/chart">
            <c:chart xmlns:c="http://schemas.openxmlformats.org/drawingml/2006/chart" xmlns:r="http://schemas.openxmlformats.org/officeDocument/2006/relationships" r:id="rId4"/>
          </a:graphicData>
        </a:graphic>
      </p:graphicFrame>
      <p:sp>
        <p:nvSpPr>
          <p:cNvPr id="3" name="Title 1">
            <a:extLst>
              <a:ext uri="{FF2B5EF4-FFF2-40B4-BE49-F238E27FC236}">
                <a16:creationId xmlns:a16="http://schemas.microsoft.com/office/drawing/2014/main" id="{F2F5AE64-FD4E-8A69-D419-09ECE4220C12}"/>
              </a:ext>
            </a:extLst>
          </p:cNvPr>
          <p:cNvSpPr txBox="1">
            <a:spLocks/>
          </p:cNvSpPr>
          <p:nvPr/>
        </p:nvSpPr>
        <p:spPr>
          <a:xfrm>
            <a:off x="5327514" y="41849"/>
            <a:ext cx="1253247" cy="6465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Task 3</a:t>
            </a:r>
            <a:endParaRPr lang="en-US" sz="2800" dirty="0"/>
          </a:p>
        </p:txBody>
      </p:sp>
    </p:spTree>
    <p:extLst>
      <p:ext uri="{BB962C8B-B14F-4D97-AF65-F5344CB8AC3E}">
        <p14:creationId xmlns:p14="http://schemas.microsoft.com/office/powerpoint/2010/main" val="451067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D3C6E0-F938-E5CD-B15D-8AE94CE944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342" y="1690688"/>
            <a:ext cx="3876675" cy="1304925"/>
          </a:xfrm>
          <a:prstGeom prst="rect">
            <a:avLst/>
          </a:prstGeom>
        </p:spPr>
      </p:pic>
      <p:pic>
        <p:nvPicPr>
          <p:cNvPr id="7" name="Picture 6">
            <a:extLst>
              <a:ext uri="{FF2B5EF4-FFF2-40B4-BE49-F238E27FC236}">
                <a16:creationId xmlns:a16="http://schemas.microsoft.com/office/drawing/2014/main" id="{3AF79B22-9B26-6E8A-2EC5-B6D0F65D69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341" y="3127105"/>
            <a:ext cx="2667033" cy="3158106"/>
          </a:xfrm>
          <a:prstGeom prst="rect">
            <a:avLst/>
          </a:prstGeom>
        </p:spPr>
      </p:pic>
      <p:graphicFrame>
        <p:nvGraphicFramePr>
          <p:cNvPr id="9" name="Chart 8">
            <a:extLst>
              <a:ext uri="{FF2B5EF4-FFF2-40B4-BE49-F238E27FC236}">
                <a16:creationId xmlns:a16="http://schemas.microsoft.com/office/drawing/2014/main" id="{CEC9F8DC-9D6C-582B-E0C9-AC02F8B586BD}"/>
              </a:ext>
            </a:extLst>
          </p:cNvPr>
          <p:cNvGraphicFramePr>
            <a:graphicFrameLocks/>
          </p:cNvGraphicFramePr>
          <p:nvPr>
            <p:extLst>
              <p:ext uri="{D42A27DB-BD31-4B8C-83A1-F6EECF244321}">
                <p14:modId xmlns:p14="http://schemas.microsoft.com/office/powerpoint/2010/main" val="2233987460"/>
              </p:ext>
            </p:extLst>
          </p:nvPr>
        </p:nvGraphicFramePr>
        <p:xfrm>
          <a:off x="4182387" y="2130950"/>
          <a:ext cx="7781272" cy="4172151"/>
        </p:xfrm>
        <a:graphic>
          <a:graphicData uri="http://schemas.openxmlformats.org/drawingml/2006/chart">
            <c:chart xmlns:c="http://schemas.openxmlformats.org/drawingml/2006/chart" xmlns:r="http://schemas.openxmlformats.org/officeDocument/2006/relationships" r:id="rId5"/>
          </a:graphicData>
        </a:graphic>
      </p:graphicFrame>
      <p:sp>
        <p:nvSpPr>
          <p:cNvPr id="3" name="Title 1">
            <a:extLst>
              <a:ext uri="{FF2B5EF4-FFF2-40B4-BE49-F238E27FC236}">
                <a16:creationId xmlns:a16="http://schemas.microsoft.com/office/drawing/2014/main" id="{BB1CFB28-1E7B-1325-3938-213017530F03}"/>
              </a:ext>
            </a:extLst>
          </p:cNvPr>
          <p:cNvSpPr txBox="1">
            <a:spLocks/>
          </p:cNvSpPr>
          <p:nvPr/>
        </p:nvSpPr>
        <p:spPr>
          <a:xfrm>
            <a:off x="5327514" y="41849"/>
            <a:ext cx="1253247" cy="6465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Task 3</a:t>
            </a:r>
            <a:endParaRPr lang="en-US" sz="2800" dirty="0"/>
          </a:p>
        </p:txBody>
      </p:sp>
      <p:sp>
        <p:nvSpPr>
          <p:cNvPr id="4" name="Title 1">
            <a:extLst>
              <a:ext uri="{FF2B5EF4-FFF2-40B4-BE49-F238E27FC236}">
                <a16:creationId xmlns:a16="http://schemas.microsoft.com/office/drawing/2014/main" id="{A0783612-C752-E14F-182D-EF5102DA5AD8}"/>
              </a:ext>
            </a:extLst>
          </p:cNvPr>
          <p:cNvSpPr txBox="1">
            <a:spLocks/>
          </p:cNvSpPr>
          <p:nvPr/>
        </p:nvSpPr>
        <p:spPr>
          <a:xfrm>
            <a:off x="2487764" y="436686"/>
            <a:ext cx="7216471" cy="756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Route Optimization Insights</a:t>
            </a:r>
            <a:endParaRPr lang="en-US" sz="2800" dirty="0"/>
          </a:p>
        </p:txBody>
      </p:sp>
    </p:spTree>
    <p:extLst>
      <p:ext uri="{BB962C8B-B14F-4D97-AF65-F5344CB8AC3E}">
        <p14:creationId xmlns:p14="http://schemas.microsoft.com/office/powerpoint/2010/main" val="4001566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55C937-FDEA-3F5E-EE5B-D1CE31D98F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706" y="1414372"/>
            <a:ext cx="6000750" cy="1247775"/>
          </a:xfrm>
          <a:prstGeom prst="rect">
            <a:avLst/>
          </a:prstGeom>
        </p:spPr>
      </p:pic>
      <p:pic>
        <p:nvPicPr>
          <p:cNvPr id="7" name="Picture 6">
            <a:extLst>
              <a:ext uri="{FF2B5EF4-FFF2-40B4-BE49-F238E27FC236}">
                <a16:creationId xmlns:a16="http://schemas.microsoft.com/office/drawing/2014/main" id="{BA13C50E-4765-A0EB-B72F-10A35ADE9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64" y="2954214"/>
            <a:ext cx="4267200" cy="3467100"/>
          </a:xfrm>
          <a:prstGeom prst="rect">
            <a:avLst/>
          </a:prstGeom>
        </p:spPr>
      </p:pic>
      <p:graphicFrame>
        <p:nvGraphicFramePr>
          <p:cNvPr id="9" name="Chart 8">
            <a:extLst>
              <a:ext uri="{FF2B5EF4-FFF2-40B4-BE49-F238E27FC236}">
                <a16:creationId xmlns:a16="http://schemas.microsoft.com/office/drawing/2014/main" id="{6534219E-D64E-42C1-5604-1524FAB3EB7A}"/>
              </a:ext>
            </a:extLst>
          </p:cNvPr>
          <p:cNvGraphicFramePr>
            <a:graphicFrameLocks/>
          </p:cNvGraphicFramePr>
          <p:nvPr>
            <p:extLst>
              <p:ext uri="{D42A27DB-BD31-4B8C-83A1-F6EECF244321}">
                <p14:modId xmlns:p14="http://schemas.microsoft.com/office/powerpoint/2010/main" val="150843821"/>
              </p:ext>
            </p:extLst>
          </p:nvPr>
        </p:nvGraphicFramePr>
        <p:xfrm>
          <a:off x="4852862" y="2954214"/>
          <a:ext cx="7174179" cy="3678282"/>
        </p:xfrm>
        <a:graphic>
          <a:graphicData uri="http://schemas.openxmlformats.org/drawingml/2006/chart">
            <c:chart xmlns:c="http://schemas.openxmlformats.org/drawingml/2006/chart" xmlns:r="http://schemas.openxmlformats.org/officeDocument/2006/relationships" r:id="rId4"/>
          </a:graphicData>
        </a:graphic>
      </p:graphicFrame>
      <p:sp>
        <p:nvSpPr>
          <p:cNvPr id="3" name="Title 1">
            <a:extLst>
              <a:ext uri="{FF2B5EF4-FFF2-40B4-BE49-F238E27FC236}">
                <a16:creationId xmlns:a16="http://schemas.microsoft.com/office/drawing/2014/main" id="{93EA02EA-756B-1E5C-7D10-A99259FFC017}"/>
              </a:ext>
            </a:extLst>
          </p:cNvPr>
          <p:cNvSpPr txBox="1">
            <a:spLocks/>
          </p:cNvSpPr>
          <p:nvPr/>
        </p:nvSpPr>
        <p:spPr>
          <a:xfrm>
            <a:off x="5327514" y="41849"/>
            <a:ext cx="1253247" cy="6465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Task 3</a:t>
            </a:r>
            <a:endParaRPr lang="en-US" sz="2800" dirty="0"/>
          </a:p>
        </p:txBody>
      </p:sp>
      <p:sp>
        <p:nvSpPr>
          <p:cNvPr id="4" name="Title 1">
            <a:extLst>
              <a:ext uri="{FF2B5EF4-FFF2-40B4-BE49-F238E27FC236}">
                <a16:creationId xmlns:a16="http://schemas.microsoft.com/office/drawing/2014/main" id="{1DFA3181-E0EF-8C6E-81FD-6027CC2EC8ED}"/>
              </a:ext>
            </a:extLst>
          </p:cNvPr>
          <p:cNvSpPr txBox="1">
            <a:spLocks/>
          </p:cNvSpPr>
          <p:nvPr/>
        </p:nvSpPr>
        <p:spPr>
          <a:xfrm>
            <a:off x="2487764" y="436686"/>
            <a:ext cx="7216471" cy="756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Route Optimization Insights</a:t>
            </a:r>
            <a:endParaRPr lang="en-US" sz="2800" dirty="0"/>
          </a:p>
        </p:txBody>
      </p:sp>
    </p:spTree>
    <p:extLst>
      <p:ext uri="{BB962C8B-B14F-4D97-AF65-F5344CB8AC3E}">
        <p14:creationId xmlns:p14="http://schemas.microsoft.com/office/powerpoint/2010/main" val="366959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10ADEC-D655-03ED-C257-2FB3ECE1AB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467" y="3644250"/>
            <a:ext cx="4619625" cy="1047750"/>
          </a:xfrm>
          <a:prstGeom prst="rect">
            <a:avLst/>
          </a:prstGeom>
        </p:spPr>
      </p:pic>
      <p:pic>
        <p:nvPicPr>
          <p:cNvPr id="7" name="Picture 6">
            <a:extLst>
              <a:ext uri="{FF2B5EF4-FFF2-40B4-BE49-F238E27FC236}">
                <a16:creationId xmlns:a16="http://schemas.microsoft.com/office/drawing/2014/main" id="{4A8B13A3-229A-9F61-B216-AE69DEC6D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467" y="1585035"/>
            <a:ext cx="5600700" cy="1666875"/>
          </a:xfrm>
          <a:prstGeom prst="rect">
            <a:avLst/>
          </a:prstGeom>
        </p:spPr>
      </p:pic>
      <p:graphicFrame>
        <p:nvGraphicFramePr>
          <p:cNvPr id="9" name="Chart 8">
            <a:extLst>
              <a:ext uri="{FF2B5EF4-FFF2-40B4-BE49-F238E27FC236}">
                <a16:creationId xmlns:a16="http://schemas.microsoft.com/office/drawing/2014/main" id="{00B23F40-0EA2-3004-3A05-5B8E62A0E1E9}"/>
              </a:ext>
            </a:extLst>
          </p:cNvPr>
          <p:cNvGraphicFramePr>
            <a:graphicFrameLocks/>
          </p:cNvGraphicFramePr>
          <p:nvPr>
            <p:extLst>
              <p:ext uri="{D42A27DB-BD31-4B8C-83A1-F6EECF244321}">
                <p14:modId xmlns:p14="http://schemas.microsoft.com/office/powerpoint/2010/main" val="3297433065"/>
              </p:ext>
            </p:extLst>
          </p:nvPr>
        </p:nvGraphicFramePr>
        <p:xfrm>
          <a:off x="6385260" y="1454677"/>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a:extLst>
              <a:ext uri="{FF2B5EF4-FFF2-40B4-BE49-F238E27FC236}">
                <a16:creationId xmlns:a16="http://schemas.microsoft.com/office/drawing/2014/main" id="{D95EAC6B-5244-3A47-272A-D171A7EDE878}"/>
              </a:ext>
            </a:extLst>
          </p:cNvPr>
          <p:cNvSpPr>
            <a:spLocks noGrp="1"/>
          </p:cNvSpPr>
          <p:nvPr>
            <p:ph type="title"/>
          </p:nvPr>
        </p:nvSpPr>
        <p:spPr>
          <a:xfrm>
            <a:off x="5327514" y="41849"/>
            <a:ext cx="1253247" cy="646552"/>
          </a:xfrm>
        </p:spPr>
        <p:txBody>
          <a:bodyPr>
            <a:normAutofit/>
          </a:bodyPr>
          <a:lstStyle/>
          <a:p>
            <a:pPr algn="ctr"/>
            <a:r>
              <a:rPr lang="en-US" sz="2800" dirty="0"/>
              <a:t>Task 3</a:t>
            </a:r>
          </a:p>
        </p:txBody>
      </p:sp>
      <p:sp>
        <p:nvSpPr>
          <p:cNvPr id="3" name="Title 1">
            <a:extLst>
              <a:ext uri="{FF2B5EF4-FFF2-40B4-BE49-F238E27FC236}">
                <a16:creationId xmlns:a16="http://schemas.microsoft.com/office/drawing/2014/main" id="{04279045-EF2F-BF5E-0F17-CCBA1084439B}"/>
              </a:ext>
            </a:extLst>
          </p:cNvPr>
          <p:cNvSpPr txBox="1">
            <a:spLocks/>
          </p:cNvSpPr>
          <p:nvPr/>
        </p:nvSpPr>
        <p:spPr>
          <a:xfrm>
            <a:off x="2487764" y="436686"/>
            <a:ext cx="7216471" cy="756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Route Optimization Insights</a:t>
            </a:r>
            <a:endParaRPr lang="en-US" sz="2800" dirty="0"/>
          </a:p>
        </p:txBody>
      </p:sp>
    </p:spTree>
    <p:extLst>
      <p:ext uri="{BB962C8B-B14F-4D97-AF65-F5344CB8AC3E}">
        <p14:creationId xmlns:p14="http://schemas.microsoft.com/office/powerpoint/2010/main" val="967849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F7552F-B2F9-678B-FF6B-9B1565849B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138" y="1708131"/>
            <a:ext cx="4703419" cy="1114582"/>
          </a:xfrm>
          <a:prstGeom prst="rect">
            <a:avLst/>
          </a:prstGeom>
        </p:spPr>
      </p:pic>
      <p:pic>
        <p:nvPicPr>
          <p:cNvPr id="7" name="Picture 6">
            <a:extLst>
              <a:ext uri="{FF2B5EF4-FFF2-40B4-BE49-F238E27FC236}">
                <a16:creationId xmlns:a16="http://schemas.microsoft.com/office/drawing/2014/main" id="{17A400F6-3303-E718-54A9-E7DD8584DC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086" y="3023485"/>
            <a:ext cx="4581525" cy="3552825"/>
          </a:xfrm>
          <a:prstGeom prst="rect">
            <a:avLst/>
          </a:prstGeom>
        </p:spPr>
      </p:pic>
      <p:graphicFrame>
        <p:nvGraphicFramePr>
          <p:cNvPr id="9" name="Chart 8">
            <a:extLst>
              <a:ext uri="{FF2B5EF4-FFF2-40B4-BE49-F238E27FC236}">
                <a16:creationId xmlns:a16="http://schemas.microsoft.com/office/drawing/2014/main" id="{44132550-39DD-54F2-9359-02632B21371F}"/>
              </a:ext>
            </a:extLst>
          </p:cNvPr>
          <p:cNvGraphicFramePr>
            <a:graphicFrameLocks/>
          </p:cNvGraphicFramePr>
          <p:nvPr>
            <p:extLst>
              <p:ext uri="{D42A27DB-BD31-4B8C-83A1-F6EECF244321}">
                <p14:modId xmlns:p14="http://schemas.microsoft.com/office/powerpoint/2010/main" val="2300903347"/>
              </p:ext>
            </p:extLst>
          </p:nvPr>
        </p:nvGraphicFramePr>
        <p:xfrm>
          <a:off x="4595855" y="1708131"/>
          <a:ext cx="7596145" cy="5149869"/>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a:extLst>
              <a:ext uri="{FF2B5EF4-FFF2-40B4-BE49-F238E27FC236}">
                <a16:creationId xmlns:a16="http://schemas.microsoft.com/office/drawing/2014/main" id="{830D20DC-4AE4-AA9B-6C5F-F563E5AEB4AB}"/>
              </a:ext>
            </a:extLst>
          </p:cNvPr>
          <p:cNvSpPr>
            <a:spLocks noGrp="1"/>
          </p:cNvSpPr>
          <p:nvPr>
            <p:ph type="title"/>
          </p:nvPr>
        </p:nvSpPr>
        <p:spPr>
          <a:xfrm>
            <a:off x="5327514" y="41849"/>
            <a:ext cx="1253247" cy="646552"/>
          </a:xfrm>
        </p:spPr>
        <p:txBody>
          <a:bodyPr>
            <a:normAutofit/>
          </a:bodyPr>
          <a:lstStyle/>
          <a:p>
            <a:pPr algn="ctr"/>
            <a:r>
              <a:rPr lang="en-US" sz="2800" dirty="0"/>
              <a:t>Task 3</a:t>
            </a:r>
          </a:p>
        </p:txBody>
      </p:sp>
      <p:sp>
        <p:nvSpPr>
          <p:cNvPr id="3" name="Title 1">
            <a:extLst>
              <a:ext uri="{FF2B5EF4-FFF2-40B4-BE49-F238E27FC236}">
                <a16:creationId xmlns:a16="http://schemas.microsoft.com/office/drawing/2014/main" id="{E076E9A8-DDEE-5E2A-AE90-A285EB6EBE17}"/>
              </a:ext>
            </a:extLst>
          </p:cNvPr>
          <p:cNvSpPr txBox="1">
            <a:spLocks/>
          </p:cNvSpPr>
          <p:nvPr/>
        </p:nvSpPr>
        <p:spPr>
          <a:xfrm>
            <a:off x="2487764" y="436686"/>
            <a:ext cx="7216471" cy="756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Route Optimization Insights</a:t>
            </a:r>
            <a:endParaRPr lang="en-US" sz="2800" dirty="0"/>
          </a:p>
        </p:txBody>
      </p:sp>
    </p:spTree>
    <p:extLst>
      <p:ext uri="{BB962C8B-B14F-4D97-AF65-F5344CB8AC3E}">
        <p14:creationId xmlns:p14="http://schemas.microsoft.com/office/powerpoint/2010/main" val="2633684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279BB-90FE-BAB3-F280-F53A64337720}"/>
              </a:ext>
            </a:extLst>
          </p:cNvPr>
          <p:cNvSpPr>
            <a:spLocks noGrp="1"/>
          </p:cNvSpPr>
          <p:nvPr>
            <p:ph type="title"/>
          </p:nvPr>
        </p:nvSpPr>
        <p:spPr>
          <a:xfrm>
            <a:off x="5327514" y="41849"/>
            <a:ext cx="1253247" cy="646552"/>
          </a:xfrm>
        </p:spPr>
        <p:txBody>
          <a:bodyPr>
            <a:normAutofit/>
          </a:bodyPr>
          <a:lstStyle/>
          <a:p>
            <a:pPr algn="ctr"/>
            <a:r>
              <a:rPr lang="en-US" sz="2800" dirty="0"/>
              <a:t>Task 3</a:t>
            </a:r>
          </a:p>
        </p:txBody>
      </p:sp>
      <p:sp>
        <p:nvSpPr>
          <p:cNvPr id="3" name="Content Placeholder 2">
            <a:extLst>
              <a:ext uri="{FF2B5EF4-FFF2-40B4-BE49-F238E27FC236}">
                <a16:creationId xmlns:a16="http://schemas.microsoft.com/office/drawing/2014/main" id="{8F92BBDF-2F77-FC09-DA02-FEC268AA5DCB}"/>
              </a:ext>
            </a:extLst>
          </p:cNvPr>
          <p:cNvSpPr>
            <a:spLocks noGrp="1"/>
          </p:cNvSpPr>
          <p:nvPr>
            <p:ph idx="1"/>
          </p:nvPr>
        </p:nvSpPr>
        <p:spPr>
          <a:xfrm>
            <a:off x="838198" y="1839026"/>
            <a:ext cx="10231877" cy="3923422"/>
          </a:xfrm>
        </p:spPr>
        <p:txBody>
          <a:bodyPr/>
          <a:lstStyle/>
          <a:p>
            <a:pPr marL="342900" indent="-342900">
              <a:buAutoNum type="arabicPeriod"/>
            </a:pPr>
            <a:r>
              <a:rPr lang="en-IN" dirty="0"/>
              <a:t>Routes R019 (Johannesburg -&gt; Dubai), R007 (Shanghai -&gt; Sydney), R005 (London -&gt; Los Angeles) and R002 (Dubai -&gt; Shanghai) where &gt;=85% of shipments are delayed beyond expected time need immediate attention. </a:t>
            </a:r>
          </a:p>
          <a:p>
            <a:pPr marL="342900" indent="-342900">
              <a:buAutoNum type="arabicPeriod"/>
            </a:pPr>
            <a:r>
              <a:rPr lang="en-IN" dirty="0"/>
              <a:t>An audit must be performed for information that warehouses are doing well or not. In the cites what reason is stopping us to make deliveries faster like traffic, routes are complex.</a:t>
            </a:r>
          </a:p>
          <a:p>
            <a:pPr marL="342900" indent="-342900">
              <a:buAutoNum type="arabicPeriod"/>
            </a:pPr>
            <a:r>
              <a:rPr lang="en-IN" dirty="0"/>
              <a:t>Routes with worst efficiency ratio should be re-routed to decrease the distance or time like changing flights.</a:t>
            </a:r>
          </a:p>
          <a:p>
            <a:endParaRPr lang="en-US" dirty="0"/>
          </a:p>
        </p:txBody>
      </p:sp>
      <p:sp>
        <p:nvSpPr>
          <p:cNvPr id="4" name="TextBox 3">
            <a:extLst>
              <a:ext uri="{FF2B5EF4-FFF2-40B4-BE49-F238E27FC236}">
                <a16:creationId xmlns:a16="http://schemas.microsoft.com/office/drawing/2014/main" id="{088102A7-3B00-D732-3EDC-A7047B7469EC}"/>
              </a:ext>
            </a:extLst>
          </p:cNvPr>
          <p:cNvSpPr txBox="1"/>
          <p:nvPr/>
        </p:nvSpPr>
        <p:spPr>
          <a:xfrm>
            <a:off x="2737279" y="1192695"/>
            <a:ext cx="7242736" cy="646331"/>
          </a:xfrm>
          <a:prstGeom prst="rect">
            <a:avLst/>
          </a:prstGeom>
          <a:noFill/>
        </p:spPr>
        <p:txBody>
          <a:bodyPr wrap="square" rtlCol="0">
            <a:spAutoFit/>
          </a:bodyPr>
          <a:lstStyle/>
          <a:p>
            <a:r>
              <a:rPr lang="en-GB" dirty="0"/>
              <a:t>Recommendation on potential routes or hub pairs for optimization. </a:t>
            </a:r>
          </a:p>
          <a:p>
            <a:endParaRPr lang="en-US" dirty="0"/>
          </a:p>
        </p:txBody>
      </p:sp>
      <p:sp>
        <p:nvSpPr>
          <p:cNvPr id="5" name="Title 1">
            <a:extLst>
              <a:ext uri="{FF2B5EF4-FFF2-40B4-BE49-F238E27FC236}">
                <a16:creationId xmlns:a16="http://schemas.microsoft.com/office/drawing/2014/main" id="{9403B05A-EE8B-8A79-0DA2-747A3476CDC0}"/>
              </a:ext>
            </a:extLst>
          </p:cNvPr>
          <p:cNvSpPr txBox="1">
            <a:spLocks/>
          </p:cNvSpPr>
          <p:nvPr/>
        </p:nvSpPr>
        <p:spPr>
          <a:xfrm>
            <a:off x="2487764" y="436686"/>
            <a:ext cx="7216471" cy="756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Route Optimization Insights</a:t>
            </a:r>
            <a:endParaRPr lang="en-US" sz="2800" dirty="0"/>
          </a:p>
        </p:txBody>
      </p:sp>
    </p:spTree>
    <p:extLst>
      <p:ext uri="{BB962C8B-B14F-4D97-AF65-F5344CB8AC3E}">
        <p14:creationId xmlns:p14="http://schemas.microsoft.com/office/powerpoint/2010/main" val="958595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77A2CDD-A29C-F371-1FDC-27FD2901B665}"/>
              </a:ext>
            </a:extLst>
          </p:cNvPr>
          <p:cNvSpPr txBox="1">
            <a:spLocks/>
          </p:cNvSpPr>
          <p:nvPr/>
        </p:nvSpPr>
        <p:spPr>
          <a:xfrm>
            <a:off x="4204207" y="0"/>
            <a:ext cx="3783586" cy="89838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Task 4</a:t>
            </a:r>
          </a:p>
          <a:p>
            <a:pPr algn="ctr"/>
            <a:r>
              <a:rPr lang="en-US" sz="2400" dirty="0"/>
              <a:t>WAREHOUSE PERFORMANCE</a:t>
            </a:r>
          </a:p>
        </p:txBody>
      </p:sp>
      <p:pic>
        <p:nvPicPr>
          <p:cNvPr id="7" name="Picture 6">
            <a:extLst>
              <a:ext uri="{FF2B5EF4-FFF2-40B4-BE49-F238E27FC236}">
                <a16:creationId xmlns:a16="http://schemas.microsoft.com/office/drawing/2014/main" id="{E788F2AF-BEB1-D0C6-B53E-03E890CDA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673" y="3584850"/>
            <a:ext cx="2028825" cy="866775"/>
          </a:xfrm>
          <a:prstGeom prst="rect">
            <a:avLst/>
          </a:prstGeom>
        </p:spPr>
      </p:pic>
      <p:pic>
        <p:nvPicPr>
          <p:cNvPr id="9" name="Picture 8">
            <a:extLst>
              <a:ext uri="{FF2B5EF4-FFF2-40B4-BE49-F238E27FC236}">
                <a16:creationId xmlns:a16="http://schemas.microsoft.com/office/drawing/2014/main" id="{2FC498AA-6FDA-4DD5-1947-F1F06682F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848" y="1379605"/>
            <a:ext cx="4305300" cy="1724025"/>
          </a:xfrm>
          <a:prstGeom prst="rect">
            <a:avLst/>
          </a:prstGeom>
        </p:spPr>
      </p:pic>
      <p:graphicFrame>
        <p:nvGraphicFramePr>
          <p:cNvPr id="11" name="Chart 10">
            <a:extLst>
              <a:ext uri="{FF2B5EF4-FFF2-40B4-BE49-F238E27FC236}">
                <a16:creationId xmlns:a16="http://schemas.microsoft.com/office/drawing/2014/main" id="{BEE87CCC-5974-FBC2-5907-416F65BC3BDC}"/>
              </a:ext>
            </a:extLst>
          </p:cNvPr>
          <p:cNvGraphicFramePr>
            <a:graphicFrameLocks/>
          </p:cNvGraphicFramePr>
          <p:nvPr>
            <p:extLst>
              <p:ext uri="{D42A27DB-BD31-4B8C-83A1-F6EECF244321}">
                <p14:modId xmlns:p14="http://schemas.microsoft.com/office/powerpoint/2010/main" val="2159148120"/>
              </p:ext>
            </p:extLst>
          </p:nvPr>
        </p:nvGraphicFramePr>
        <p:xfrm>
          <a:off x="4913537" y="1264936"/>
          <a:ext cx="6976905" cy="463982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89175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680DCC5-85A5-F76A-FFD4-E27FEE30CC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650" y="1689759"/>
            <a:ext cx="5848350" cy="1257300"/>
          </a:xfrm>
          <a:prstGeom prst="rect">
            <a:avLst/>
          </a:prstGeom>
        </p:spPr>
      </p:pic>
      <p:sp>
        <p:nvSpPr>
          <p:cNvPr id="5" name="TextBox 4">
            <a:extLst>
              <a:ext uri="{FF2B5EF4-FFF2-40B4-BE49-F238E27FC236}">
                <a16:creationId xmlns:a16="http://schemas.microsoft.com/office/drawing/2014/main" id="{9A991ACD-839C-4534-8667-4E86DEEA65BB}"/>
              </a:ext>
            </a:extLst>
          </p:cNvPr>
          <p:cNvSpPr txBox="1"/>
          <p:nvPr/>
        </p:nvSpPr>
        <p:spPr>
          <a:xfrm>
            <a:off x="3048811" y="104932"/>
            <a:ext cx="6094378" cy="830997"/>
          </a:xfrm>
          <a:prstGeom prst="rect">
            <a:avLst/>
          </a:prstGeom>
          <a:noFill/>
        </p:spPr>
        <p:txBody>
          <a:bodyPr wrap="square">
            <a:spAutoFit/>
          </a:bodyPr>
          <a:lstStyle/>
          <a:p>
            <a:pPr algn="ctr"/>
            <a:r>
              <a:rPr lang="en-IN" sz="2400" dirty="0"/>
              <a:t>Task 4</a:t>
            </a:r>
          </a:p>
          <a:p>
            <a:pPr algn="ctr"/>
            <a:r>
              <a:rPr lang="en-US" sz="2400" dirty="0"/>
              <a:t>WAREHOUSE PERFORMANCE</a:t>
            </a:r>
          </a:p>
        </p:txBody>
      </p:sp>
      <p:pic>
        <p:nvPicPr>
          <p:cNvPr id="9" name="Picture 8">
            <a:extLst>
              <a:ext uri="{FF2B5EF4-FFF2-40B4-BE49-F238E27FC236}">
                <a16:creationId xmlns:a16="http://schemas.microsoft.com/office/drawing/2014/main" id="{019096E8-3BDB-89DB-C3EF-D6B7C5D44E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836" y="3158466"/>
            <a:ext cx="3419475" cy="2009775"/>
          </a:xfrm>
          <a:prstGeom prst="rect">
            <a:avLst/>
          </a:prstGeom>
        </p:spPr>
      </p:pic>
      <p:graphicFrame>
        <p:nvGraphicFramePr>
          <p:cNvPr id="11" name="Chart 10">
            <a:extLst>
              <a:ext uri="{FF2B5EF4-FFF2-40B4-BE49-F238E27FC236}">
                <a16:creationId xmlns:a16="http://schemas.microsoft.com/office/drawing/2014/main" id="{C53C3E1D-EC7B-3215-D149-02DCCDC566CE}"/>
              </a:ext>
            </a:extLst>
          </p:cNvPr>
          <p:cNvGraphicFramePr>
            <a:graphicFrameLocks/>
          </p:cNvGraphicFramePr>
          <p:nvPr>
            <p:extLst>
              <p:ext uri="{D42A27DB-BD31-4B8C-83A1-F6EECF244321}">
                <p14:modId xmlns:p14="http://schemas.microsoft.com/office/powerpoint/2010/main" val="3001207675"/>
              </p:ext>
            </p:extLst>
          </p:nvPr>
        </p:nvGraphicFramePr>
        <p:xfrm>
          <a:off x="5552164" y="3088745"/>
          <a:ext cx="6096000" cy="322300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70244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825E82-DFC9-4A1C-257A-F500A2630A6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11" t="52853" r="5955" b="1721"/>
          <a:stretch>
            <a:fillRect/>
          </a:stretch>
        </p:blipFill>
        <p:spPr>
          <a:xfrm>
            <a:off x="392997" y="1383621"/>
            <a:ext cx="5120640" cy="1371600"/>
          </a:xfrm>
          <a:prstGeom prst="rect">
            <a:avLst/>
          </a:prstGeom>
        </p:spPr>
      </p:pic>
      <p:pic>
        <p:nvPicPr>
          <p:cNvPr id="7" name="Picture 6">
            <a:extLst>
              <a:ext uri="{FF2B5EF4-FFF2-40B4-BE49-F238E27FC236}">
                <a16:creationId xmlns:a16="http://schemas.microsoft.com/office/drawing/2014/main" id="{21978CE3-BA99-E398-A7C3-240AC29885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997" y="3429000"/>
            <a:ext cx="2114550" cy="1543050"/>
          </a:xfrm>
          <a:prstGeom prst="rect">
            <a:avLst/>
          </a:prstGeom>
        </p:spPr>
      </p:pic>
      <p:sp>
        <p:nvSpPr>
          <p:cNvPr id="9" name="TextBox 8">
            <a:extLst>
              <a:ext uri="{FF2B5EF4-FFF2-40B4-BE49-F238E27FC236}">
                <a16:creationId xmlns:a16="http://schemas.microsoft.com/office/drawing/2014/main" id="{F08D8EA4-4D7A-3CAB-7761-29EE4051E183}"/>
              </a:ext>
            </a:extLst>
          </p:cNvPr>
          <p:cNvSpPr txBox="1"/>
          <p:nvPr/>
        </p:nvSpPr>
        <p:spPr>
          <a:xfrm>
            <a:off x="3048811" y="104932"/>
            <a:ext cx="6094378" cy="830997"/>
          </a:xfrm>
          <a:prstGeom prst="rect">
            <a:avLst/>
          </a:prstGeom>
          <a:noFill/>
        </p:spPr>
        <p:txBody>
          <a:bodyPr wrap="square">
            <a:spAutoFit/>
          </a:bodyPr>
          <a:lstStyle/>
          <a:p>
            <a:pPr algn="ctr"/>
            <a:r>
              <a:rPr lang="en-IN" sz="2400" dirty="0"/>
              <a:t>Task 4</a:t>
            </a:r>
          </a:p>
          <a:p>
            <a:pPr algn="ctr"/>
            <a:r>
              <a:rPr lang="en-US" sz="2400" dirty="0"/>
              <a:t>WAREHOUSE PERFORMANCE</a:t>
            </a:r>
          </a:p>
        </p:txBody>
      </p:sp>
      <p:graphicFrame>
        <p:nvGraphicFramePr>
          <p:cNvPr id="11" name="Chart 10">
            <a:extLst>
              <a:ext uri="{FF2B5EF4-FFF2-40B4-BE49-F238E27FC236}">
                <a16:creationId xmlns:a16="http://schemas.microsoft.com/office/drawing/2014/main" id="{CD9E34B8-1E6B-4D1D-58FC-03C1F6F715A6}"/>
              </a:ext>
            </a:extLst>
          </p:cNvPr>
          <p:cNvGraphicFramePr>
            <a:graphicFrameLocks/>
          </p:cNvGraphicFramePr>
          <p:nvPr>
            <p:extLst>
              <p:ext uri="{D42A27DB-BD31-4B8C-83A1-F6EECF244321}">
                <p14:modId xmlns:p14="http://schemas.microsoft.com/office/powerpoint/2010/main" val="2297820191"/>
              </p:ext>
            </p:extLst>
          </p:nvPr>
        </p:nvGraphicFramePr>
        <p:xfrm>
          <a:off x="5195000" y="2283488"/>
          <a:ext cx="6997000" cy="45745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37554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F97DFF4-61C4-F6BF-6482-673CB84E41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191" y="1033345"/>
            <a:ext cx="5842641" cy="2395655"/>
          </a:xfrm>
          <a:prstGeom prst="rect">
            <a:avLst/>
          </a:prstGeom>
        </p:spPr>
      </p:pic>
      <p:sp>
        <p:nvSpPr>
          <p:cNvPr id="5" name="TextBox 4">
            <a:extLst>
              <a:ext uri="{FF2B5EF4-FFF2-40B4-BE49-F238E27FC236}">
                <a16:creationId xmlns:a16="http://schemas.microsoft.com/office/drawing/2014/main" id="{0635E800-3ED6-AA61-F585-CCE98D5E2767}"/>
              </a:ext>
            </a:extLst>
          </p:cNvPr>
          <p:cNvSpPr txBox="1"/>
          <p:nvPr/>
        </p:nvSpPr>
        <p:spPr>
          <a:xfrm>
            <a:off x="3048811" y="104932"/>
            <a:ext cx="6094378" cy="830997"/>
          </a:xfrm>
          <a:prstGeom prst="rect">
            <a:avLst/>
          </a:prstGeom>
          <a:noFill/>
        </p:spPr>
        <p:txBody>
          <a:bodyPr wrap="square">
            <a:spAutoFit/>
          </a:bodyPr>
          <a:lstStyle/>
          <a:p>
            <a:pPr algn="ctr"/>
            <a:r>
              <a:rPr lang="en-IN" sz="2400" dirty="0"/>
              <a:t>Task 4</a:t>
            </a:r>
          </a:p>
          <a:p>
            <a:pPr algn="ctr"/>
            <a:r>
              <a:rPr lang="en-US" sz="2400" dirty="0"/>
              <a:t>WAREHOUSE PERFORMANCE</a:t>
            </a:r>
          </a:p>
        </p:txBody>
      </p:sp>
      <p:pic>
        <p:nvPicPr>
          <p:cNvPr id="9" name="Picture 8">
            <a:extLst>
              <a:ext uri="{FF2B5EF4-FFF2-40B4-BE49-F238E27FC236}">
                <a16:creationId xmlns:a16="http://schemas.microsoft.com/office/drawing/2014/main" id="{27BE0AFA-A423-0466-8024-660E6518D8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623" y="3864008"/>
            <a:ext cx="3476625" cy="2028825"/>
          </a:xfrm>
          <a:prstGeom prst="rect">
            <a:avLst/>
          </a:prstGeom>
        </p:spPr>
      </p:pic>
      <p:graphicFrame>
        <p:nvGraphicFramePr>
          <p:cNvPr id="11" name="Chart 10">
            <a:extLst>
              <a:ext uri="{FF2B5EF4-FFF2-40B4-BE49-F238E27FC236}">
                <a16:creationId xmlns:a16="http://schemas.microsoft.com/office/drawing/2014/main" id="{F61D0CA6-1128-1628-237E-D1E72BD7D31C}"/>
              </a:ext>
            </a:extLst>
          </p:cNvPr>
          <p:cNvGraphicFramePr>
            <a:graphicFrameLocks/>
          </p:cNvGraphicFramePr>
          <p:nvPr>
            <p:extLst>
              <p:ext uri="{D42A27DB-BD31-4B8C-83A1-F6EECF244321}">
                <p14:modId xmlns:p14="http://schemas.microsoft.com/office/powerpoint/2010/main" val="197122712"/>
              </p:ext>
            </p:extLst>
          </p:nvPr>
        </p:nvGraphicFramePr>
        <p:xfrm>
          <a:off x="5921900" y="2338164"/>
          <a:ext cx="6087909" cy="4519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92665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598F5C49-3900-0DE6-6D03-82AF53B0B2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992" y="1572925"/>
            <a:ext cx="6191250" cy="1704975"/>
          </a:xfrm>
          <a:prstGeom prst="rect">
            <a:avLst/>
          </a:prstGeom>
        </p:spPr>
      </p:pic>
      <p:sp>
        <p:nvSpPr>
          <p:cNvPr id="5" name="Title 1">
            <a:extLst>
              <a:ext uri="{FF2B5EF4-FFF2-40B4-BE49-F238E27FC236}">
                <a16:creationId xmlns:a16="http://schemas.microsoft.com/office/drawing/2014/main" id="{35D30AFB-10AE-DBBF-3C71-5A414D0B485C}"/>
              </a:ext>
            </a:extLst>
          </p:cNvPr>
          <p:cNvSpPr txBox="1">
            <a:spLocks/>
          </p:cNvSpPr>
          <p:nvPr/>
        </p:nvSpPr>
        <p:spPr>
          <a:xfrm>
            <a:off x="4204207" y="0"/>
            <a:ext cx="3783586" cy="89838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Task 5</a:t>
            </a:r>
          </a:p>
          <a:p>
            <a:pPr algn="ctr"/>
            <a:r>
              <a:rPr lang="en-IN" sz="2400" dirty="0"/>
              <a:t>Delivery Agent Performance</a:t>
            </a:r>
          </a:p>
        </p:txBody>
      </p:sp>
      <p:sp>
        <p:nvSpPr>
          <p:cNvPr id="7" name="TextBox 6">
            <a:extLst>
              <a:ext uri="{FF2B5EF4-FFF2-40B4-BE49-F238E27FC236}">
                <a16:creationId xmlns:a16="http://schemas.microsoft.com/office/drawing/2014/main" id="{625526A6-DA94-31B8-67CE-150156262EDC}"/>
              </a:ext>
            </a:extLst>
          </p:cNvPr>
          <p:cNvSpPr txBox="1"/>
          <p:nvPr/>
        </p:nvSpPr>
        <p:spPr>
          <a:xfrm>
            <a:off x="1314108" y="898385"/>
            <a:ext cx="9445451" cy="369332"/>
          </a:xfrm>
          <a:prstGeom prst="rect">
            <a:avLst/>
          </a:prstGeom>
          <a:noFill/>
        </p:spPr>
        <p:txBody>
          <a:bodyPr wrap="square" rtlCol="0">
            <a:spAutoFit/>
          </a:bodyPr>
          <a:lstStyle/>
          <a:p>
            <a:pPr algn="ctr"/>
            <a:r>
              <a:rPr lang="en-GB" dirty="0"/>
              <a:t>Rank delivery agents (per route) by on-time delivery percentage</a:t>
            </a:r>
            <a:endParaRPr lang="en-US" dirty="0"/>
          </a:p>
        </p:txBody>
      </p:sp>
      <p:pic>
        <p:nvPicPr>
          <p:cNvPr id="11" name="Picture 10">
            <a:extLst>
              <a:ext uri="{FF2B5EF4-FFF2-40B4-BE49-F238E27FC236}">
                <a16:creationId xmlns:a16="http://schemas.microsoft.com/office/drawing/2014/main" id="{32C7851C-6A30-6C46-E8F2-9A6DE9209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47" y="3198475"/>
            <a:ext cx="3657600" cy="3476625"/>
          </a:xfrm>
          <a:prstGeom prst="rect">
            <a:avLst/>
          </a:prstGeom>
        </p:spPr>
      </p:pic>
    </p:spTree>
    <p:extLst>
      <p:ext uri="{BB962C8B-B14F-4D97-AF65-F5344CB8AC3E}">
        <p14:creationId xmlns:p14="http://schemas.microsoft.com/office/powerpoint/2010/main" val="1434766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0337EA-7186-1A9A-7F8F-4D801FD51F44}"/>
              </a:ext>
            </a:extLst>
          </p:cNvPr>
          <p:cNvSpPr txBox="1"/>
          <p:nvPr/>
        </p:nvSpPr>
        <p:spPr>
          <a:xfrm>
            <a:off x="1314108" y="898385"/>
            <a:ext cx="9445451" cy="369332"/>
          </a:xfrm>
          <a:prstGeom prst="rect">
            <a:avLst/>
          </a:prstGeom>
          <a:noFill/>
        </p:spPr>
        <p:txBody>
          <a:bodyPr wrap="square" rtlCol="0">
            <a:spAutoFit/>
          </a:bodyPr>
          <a:lstStyle/>
          <a:p>
            <a:pPr algn="ctr"/>
            <a:r>
              <a:rPr lang="en-GB" dirty="0"/>
              <a:t>Find agents whose on-time % is below 85%</a:t>
            </a:r>
            <a:endParaRPr lang="en-US" dirty="0"/>
          </a:p>
        </p:txBody>
      </p:sp>
      <p:sp>
        <p:nvSpPr>
          <p:cNvPr id="7" name="Title 1">
            <a:extLst>
              <a:ext uri="{FF2B5EF4-FFF2-40B4-BE49-F238E27FC236}">
                <a16:creationId xmlns:a16="http://schemas.microsoft.com/office/drawing/2014/main" id="{D12460C2-FFF1-F741-B637-E9E054088134}"/>
              </a:ext>
            </a:extLst>
          </p:cNvPr>
          <p:cNvSpPr txBox="1">
            <a:spLocks/>
          </p:cNvSpPr>
          <p:nvPr/>
        </p:nvSpPr>
        <p:spPr>
          <a:xfrm>
            <a:off x="4204207" y="0"/>
            <a:ext cx="3783586" cy="89838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Task 5</a:t>
            </a:r>
          </a:p>
          <a:p>
            <a:pPr algn="ctr"/>
            <a:r>
              <a:rPr lang="en-IN" sz="2400" dirty="0"/>
              <a:t>Delivery Agent Performance</a:t>
            </a:r>
          </a:p>
        </p:txBody>
      </p:sp>
      <p:pic>
        <p:nvPicPr>
          <p:cNvPr id="17" name="Content Placeholder 16">
            <a:extLst>
              <a:ext uri="{FF2B5EF4-FFF2-40B4-BE49-F238E27FC236}">
                <a16:creationId xmlns:a16="http://schemas.microsoft.com/office/drawing/2014/main" id="{414DFB18-E1F5-AB62-073E-DBD58B1FD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4526" y="2399505"/>
            <a:ext cx="6739474" cy="2058989"/>
          </a:xfrm>
          <a:prstGeom prst="rect">
            <a:avLst/>
          </a:prstGeom>
        </p:spPr>
      </p:pic>
      <p:pic>
        <p:nvPicPr>
          <p:cNvPr id="19" name="Picture 18">
            <a:extLst>
              <a:ext uri="{FF2B5EF4-FFF2-40B4-BE49-F238E27FC236}">
                <a16:creationId xmlns:a16="http://schemas.microsoft.com/office/drawing/2014/main" id="{64C6C271-0754-673E-F7B4-82247F75B2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7895" y="1666773"/>
            <a:ext cx="3076837" cy="4657012"/>
          </a:xfrm>
          <a:prstGeom prst="rect">
            <a:avLst/>
          </a:prstGeom>
        </p:spPr>
      </p:pic>
    </p:spTree>
    <p:extLst>
      <p:ext uri="{BB962C8B-B14F-4D97-AF65-F5344CB8AC3E}">
        <p14:creationId xmlns:p14="http://schemas.microsoft.com/office/powerpoint/2010/main" val="1961658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23A2924-BB28-6298-846D-D517EC5347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566" y="1574952"/>
            <a:ext cx="5419725" cy="2809875"/>
          </a:xfrm>
          <a:prstGeom prst="rect">
            <a:avLst/>
          </a:prstGeom>
        </p:spPr>
      </p:pic>
      <p:sp>
        <p:nvSpPr>
          <p:cNvPr id="5" name="Title 1">
            <a:extLst>
              <a:ext uri="{FF2B5EF4-FFF2-40B4-BE49-F238E27FC236}">
                <a16:creationId xmlns:a16="http://schemas.microsoft.com/office/drawing/2014/main" id="{E7E7F57F-8A62-43F0-B482-BDF85FC7C024}"/>
              </a:ext>
            </a:extLst>
          </p:cNvPr>
          <p:cNvSpPr txBox="1">
            <a:spLocks/>
          </p:cNvSpPr>
          <p:nvPr/>
        </p:nvSpPr>
        <p:spPr>
          <a:xfrm>
            <a:off x="4204207" y="0"/>
            <a:ext cx="3783586" cy="89838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Task 5</a:t>
            </a:r>
          </a:p>
          <a:p>
            <a:pPr algn="ctr"/>
            <a:r>
              <a:rPr lang="en-IN" sz="2400" dirty="0"/>
              <a:t>Delivery Agent Performance</a:t>
            </a:r>
          </a:p>
        </p:txBody>
      </p:sp>
      <p:pic>
        <p:nvPicPr>
          <p:cNvPr id="9" name="Picture 8">
            <a:extLst>
              <a:ext uri="{FF2B5EF4-FFF2-40B4-BE49-F238E27FC236}">
                <a16:creationId xmlns:a16="http://schemas.microsoft.com/office/drawing/2014/main" id="{C0C97CAA-F97F-9D53-FEA3-7A8F1FE86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53768"/>
            <a:ext cx="5727385" cy="1279116"/>
          </a:xfrm>
          <a:prstGeom prst="rect">
            <a:avLst/>
          </a:prstGeom>
        </p:spPr>
      </p:pic>
      <p:sp>
        <p:nvSpPr>
          <p:cNvPr id="12" name="TextBox 11">
            <a:extLst>
              <a:ext uri="{FF2B5EF4-FFF2-40B4-BE49-F238E27FC236}">
                <a16:creationId xmlns:a16="http://schemas.microsoft.com/office/drawing/2014/main" id="{7380EC03-00CC-6322-A25D-DEB029192236}"/>
              </a:ext>
            </a:extLst>
          </p:cNvPr>
          <p:cNvSpPr txBox="1"/>
          <p:nvPr/>
        </p:nvSpPr>
        <p:spPr>
          <a:xfrm>
            <a:off x="926055" y="855383"/>
            <a:ext cx="10339889" cy="369332"/>
          </a:xfrm>
          <a:prstGeom prst="rect">
            <a:avLst/>
          </a:prstGeom>
          <a:noFill/>
        </p:spPr>
        <p:txBody>
          <a:bodyPr wrap="square" rtlCol="0">
            <a:spAutoFit/>
          </a:bodyPr>
          <a:lstStyle/>
          <a:p>
            <a:pPr algn="ctr"/>
            <a:r>
              <a:rPr lang="en-GB" dirty="0"/>
              <a:t>Compare the average rating and experience (in years) of the top 5 vs bottom 5 agents using subqueries.</a:t>
            </a:r>
            <a:endParaRPr lang="en-US" dirty="0"/>
          </a:p>
        </p:txBody>
      </p:sp>
    </p:spTree>
    <p:extLst>
      <p:ext uri="{BB962C8B-B14F-4D97-AF65-F5344CB8AC3E}">
        <p14:creationId xmlns:p14="http://schemas.microsoft.com/office/powerpoint/2010/main" val="3166938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47524E43-6B39-3BCD-2B22-87FAEE2B16AA}"/>
              </a:ext>
            </a:extLst>
          </p:cNvPr>
          <p:cNvGraphicFramePr>
            <a:graphicFrameLocks/>
          </p:cNvGraphicFramePr>
          <p:nvPr>
            <p:extLst>
              <p:ext uri="{D42A27DB-BD31-4B8C-83A1-F6EECF244321}">
                <p14:modId xmlns:p14="http://schemas.microsoft.com/office/powerpoint/2010/main" val="2242558368"/>
              </p:ext>
            </p:extLst>
          </p:nvPr>
        </p:nvGraphicFramePr>
        <p:xfrm>
          <a:off x="2718140" y="1934552"/>
          <a:ext cx="6755719" cy="4845249"/>
        </p:xfrm>
        <a:graphic>
          <a:graphicData uri="http://schemas.openxmlformats.org/drawingml/2006/chart">
            <c:chart xmlns:c="http://schemas.openxmlformats.org/drawingml/2006/chart" xmlns:r="http://schemas.openxmlformats.org/officeDocument/2006/relationships" r:id="rId2"/>
          </a:graphicData>
        </a:graphic>
      </p:graphicFrame>
      <p:sp>
        <p:nvSpPr>
          <p:cNvPr id="7" name="Title 1">
            <a:extLst>
              <a:ext uri="{FF2B5EF4-FFF2-40B4-BE49-F238E27FC236}">
                <a16:creationId xmlns:a16="http://schemas.microsoft.com/office/drawing/2014/main" id="{6E334279-A802-1DA8-A693-C4C30F488550}"/>
              </a:ext>
            </a:extLst>
          </p:cNvPr>
          <p:cNvSpPr txBox="1">
            <a:spLocks/>
          </p:cNvSpPr>
          <p:nvPr/>
        </p:nvSpPr>
        <p:spPr>
          <a:xfrm>
            <a:off x="4204207" y="0"/>
            <a:ext cx="3783586" cy="89838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Task 5</a:t>
            </a:r>
          </a:p>
          <a:p>
            <a:pPr algn="ctr"/>
            <a:r>
              <a:rPr lang="en-IN" sz="2400" dirty="0"/>
              <a:t>Delivery Agent Performance</a:t>
            </a:r>
          </a:p>
        </p:txBody>
      </p:sp>
    </p:spTree>
    <p:extLst>
      <p:ext uri="{BB962C8B-B14F-4D97-AF65-F5344CB8AC3E}">
        <p14:creationId xmlns:p14="http://schemas.microsoft.com/office/powerpoint/2010/main" val="342367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076971-AA3E-B04A-8C0B-D5C11B0258D5}"/>
              </a:ext>
            </a:extLst>
          </p:cNvPr>
          <p:cNvSpPr>
            <a:spLocks noGrp="1"/>
          </p:cNvSpPr>
          <p:nvPr>
            <p:ph idx="1"/>
          </p:nvPr>
        </p:nvSpPr>
        <p:spPr>
          <a:xfrm>
            <a:off x="838200" y="1825625"/>
            <a:ext cx="9687128" cy="2902018"/>
          </a:xfrm>
        </p:spPr>
        <p:txBody>
          <a:bodyPr/>
          <a:lstStyle/>
          <a:p>
            <a:r>
              <a:rPr lang="en-US" dirty="0"/>
              <a:t>Provide additional training to agents with on-time delivery below 85%.</a:t>
            </a:r>
          </a:p>
          <a:p>
            <a:r>
              <a:rPr lang="en-US" dirty="0"/>
              <a:t>Balance workload among delivery agents.</a:t>
            </a:r>
          </a:p>
          <a:p>
            <a:r>
              <a:rPr lang="en-US" dirty="0"/>
              <a:t>Reward high-performing agents.</a:t>
            </a:r>
          </a:p>
          <a:p>
            <a:r>
              <a:rPr lang="en-US" dirty="0"/>
              <a:t>Monitor routes assigned to low-performing agents.</a:t>
            </a:r>
          </a:p>
        </p:txBody>
      </p:sp>
      <p:sp>
        <p:nvSpPr>
          <p:cNvPr id="5" name="Title 1">
            <a:extLst>
              <a:ext uri="{FF2B5EF4-FFF2-40B4-BE49-F238E27FC236}">
                <a16:creationId xmlns:a16="http://schemas.microsoft.com/office/drawing/2014/main" id="{03A2E8DA-E26B-CD98-35D9-8B0AA6757476}"/>
              </a:ext>
            </a:extLst>
          </p:cNvPr>
          <p:cNvSpPr txBox="1">
            <a:spLocks/>
          </p:cNvSpPr>
          <p:nvPr/>
        </p:nvSpPr>
        <p:spPr>
          <a:xfrm>
            <a:off x="4204207" y="0"/>
            <a:ext cx="3783586" cy="89838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Task 5</a:t>
            </a:r>
          </a:p>
          <a:p>
            <a:pPr algn="ctr"/>
            <a:r>
              <a:rPr lang="en-IN" sz="2400" dirty="0"/>
              <a:t>Delivery Agent Performance</a:t>
            </a:r>
          </a:p>
        </p:txBody>
      </p:sp>
      <p:sp>
        <p:nvSpPr>
          <p:cNvPr id="6" name="TextBox 5">
            <a:extLst>
              <a:ext uri="{FF2B5EF4-FFF2-40B4-BE49-F238E27FC236}">
                <a16:creationId xmlns:a16="http://schemas.microsoft.com/office/drawing/2014/main" id="{8A863349-F5E9-6947-E34D-DA1079BC4AE4}"/>
              </a:ext>
            </a:extLst>
          </p:cNvPr>
          <p:cNvSpPr txBox="1"/>
          <p:nvPr/>
        </p:nvSpPr>
        <p:spPr>
          <a:xfrm>
            <a:off x="1905680" y="898385"/>
            <a:ext cx="9019329" cy="646331"/>
          </a:xfrm>
          <a:prstGeom prst="rect">
            <a:avLst/>
          </a:prstGeom>
          <a:noFill/>
        </p:spPr>
        <p:txBody>
          <a:bodyPr wrap="none" rtlCol="0">
            <a:spAutoFit/>
          </a:bodyPr>
          <a:lstStyle/>
          <a:p>
            <a:r>
              <a:rPr lang="en-GB" dirty="0"/>
              <a:t>Suggest training or workload balancing strategies for low-performing agents based on insights.</a:t>
            </a:r>
            <a:endParaRPr lang="en-US" dirty="0"/>
          </a:p>
          <a:p>
            <a:endParaRPr lang="en-US" dirty="0"/>
          </a:p>
        </p:txBody>
      </p:sp>
    </p:spTree>
    <p:extLst>
      <p:ext uri="{BB962C8B-B14F-4D97-AF65-F5344CB8AC3E}">
        <p14:creationId xmlns:p14="http://schemas.microsoft.com/office/powerpoint/2010/main" val="3523945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E2F5DD6-6145-5073-B2CB-F090FAB90C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2184" y="1830911"/>
            <a:ext cx="2781300" cy="1266825"/>
          </a:xfrm>
          <a:prstGeom prst="rect">
            <a:avLst/>
          </a:prstGeom>
        </p:spPr>
      </p:pic>
      <p:sp>
        <p:nvSpPr>
          <p:cNvPr id="5" name="TextBox 4">
            <a:extLst>
              <a:ext uri="{FF2B5EF4-FFF2-40B4-BE49-F238E27FC236}">
                <a16:creationId xmlns:a16="http://schemas.microsoft.com/office/drawing/2014/main" id="{97E7AC64-24D6-8D6D-697F-CFFD46211C71}"/>
              </a:ext>
            </a:extLst>
          </p:cNvPr>
          <p:cNvSpPr txBox="1"/>
          <p:nvPr/>
        </p:nvSpPr>
        <p:spPr>
          <a:xfrm>
            <a:off x="3987970" y="85917"/>
            <a:ext cx="4216059" cy="646331"/>
          </a:xfrm>
          <a:prstGeom prst="rect">
            <a:avLst/>
          </a:prstGeom>
          <a:noFill/>
        </p:spPr>
        <p:txBody>
          <a:bodyPr wrap="square" rtlCol="0">
            <a:spAutoFit/>
          </a:bodyPr>
          <a:lstStyle/>
          <a:p>
            <a:pPr algn="ctr"/>
            <a:r>
              <a:rPr lang="en-GB" dirty="0"/>
              <a:t>TASK 6</a:t>
            </a:r>
          </a:p>
          <a:p>
            <a:pPr algn="ctr"/>
            <a:r>
              <a:rPr lang="en-GB" dirty="0"/>
              <a:t>SHIPMENT TRACKING ANALYTICS</a:t>
            </a:r>
            <a:endParaRPr lang="en-US" dirty="0"/>
          </a:p>
        </p:txBody>
      </p:sp>
      <p:pic>
        <p:nvPicPr>
          <p:cNvPr id="9" name="Picture 8">
            <a:extLst>
              <a:ext uri="{FF2B5EF4-FFF2-40B4-BE49-F238E27FC236}">
                <a16:creationId xmlns:a16="http://schemas.microsoft.com/office/drawing/2014/main" id="{1A146FF1-5F64-19BF-8449-92169399E2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1000" y="1830911"/>
            <a:ext cx="4051672" cy="4648627"/>
          </a:xfrm>
          <a:prstGeom prst="rect">
            <a:avLst/>
          </a:prstGeom>
        </p:spPr>
      </p:pic>
      <p:sp>
        <p:nvSpPr>
          <p:cNvPr id="11" name="TextBox 10">
            <a:extLst>
              <a:ext uri="{FF2B5EF4-FFF2-40B4-BE49-F238E27FC236}">
                <a16:creationId xmlns:a16="http://schemas.microsoft.com/office/drawing/2014/main" id="{38E30228-AFF4-5DB9-5FDB-B95FC844BB85}"/>
              </a:ext>
            </a:extLst>
          </p:cNvPr>
          <p:cNvSpPr txBox="1"/>
          <p:nvPr/>
        </p:nvSpPr>
        <p:spPr>
          <a:xfrm>
            <a:off x="240872" y="732248"/>
            <a:ext cx="11710254" cy="369332"/>
          </a:xfrm>
          <a:prstGeom prst="rect">
            <a:avLst/>
          </a:prstGeom>
          <a:noFill/>
        </p:spPr>
        <p:txBody>
          <a:bodyPr wrap="square" rtlCol="0">
            <a:spAutoFit/>
          </a:bodyPr>
          <a:lstStyle/>
          <a:p>
            <a:pPr algn="ctr"/>
            <a:r>
              <a:rPr lang="en-GB" dirty="0"/>
              <a:t>For each shipment, display the latest status (Delivered, In Transit, or Returned) along with the latest </a:t>
            </a:r>
            <a:r>
              <a:rPr lang="en-GB" dirty="0" err="1"/>
              <a:t>Delivery_Date</a:t>
            </a:r>
            <a:endParaRPr lang="en-US" dirty="0"/>
          </a:p>
        </p:txBody>
      </p:sp>
    </p:spTree>
    <p:extLst>
      <p:ext uri="{BB962C8B-B14F-4D97-AF65-F5344CB8AC3E}">
        <p14:creationId xmlns:p14="http://schemas.microsoft.com/office/powerpoint/2010/main" val="1996572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1A3780-F216-5902-0052-550DEBB29F3A}"/>
              </a:ext>
            </a:extLst>
          </p:cNvPr>
          <p:cNvSpPr txBox="1"/>
          <p:nvPr/>
        </p:nvSpPr>
        <p:spPr>
          <a:xfrm>
            <a:off x="3987970" y="85917"/>
            <a:ext cx="4216059" cy="646331"/>
          </a:xfrm>
          <a:prstGeom prst="rect">
            <a:avLst/>
          </a:prstGeom>
          <a:noFill/>
        </p:spPr>
        <p:txBody>
          <a:bodyPr wrap="square" rtlCol="0">
            <a:spAutoFit/>
          </a:bodyPr>
          <a:lstStyle/>
          <a:p>
            <a:pPr algn="ctr"/>
            <a:r>
              <a:rPr lang="en-GB" dirty="0"/>
              <a:t>TASK 6</a:t>
            </a:r>
          </a:p>
          <a:p>
            <a:pPr algn="ctr"/>
            <a:r>
              <a:rPr lang="en-GB" dirty="0"/>
              <a:t>SHIPMENT TRACKING ANALYTICS</a:t>
            </a:r>
            <a:endParaRPr lang="en-US" dirty="0"/>
          </a:p>
        </p:txBody>
      </p:sp>
      <p:pic>
        <p:nvPicPr>
          <p:cNvPr id="7" name="Picture 6">
            <a:extLst>
              <a:ext uri="{FF2B5EF4-FFF2-40B4-BE49-F238E27FC236}">
                <a16:creationId xmlns:a16="http://schemas.microsoft.com/office/drawing/2014/main" id="{2FB5F44B-D89E-3D84-EC48-6223A75C8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018" y="1209877"/>
            <a:ext cx="4210050" cy="1714500"/>
          </a:xfrm>
          <a:prstGeom prst="rect">
            <a:avLst/>
          </a:prstGeom>
        </p:spPr>
      </p:pic>
      <p:pic>
        <p:nvPicPr>
          <p:cNvPr id="9" name="Picture 8">
            <a:extLst>
              <a:ext uri="{FF2B5EF4-FFF2-40B4-BE49-F238E27FC236}">
                <a16:creationId xmlns:a16="http://schemas.microsoft.com/office/drawing/2014/main" id="{C992EA2B-B8D1-D76B-13D1-D3A7EB460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25704"/>
            <a:ext cx="3420541" cy="4143032"/>
          </a:xfrm>
          <a:prstGeom prst="rect">
            <a:avLst/>
          </a:prstGeom>
        </p:spPr>
      </p:pic>
      <p:sp>
        <p:nvSpPr>
          <p:cNvPr id="11" name="TextBox 10">
            <a:extLst>
              <a:ext uri="{FF2B5EF4-FFF2-40B4-BE49-F238E27FC236}">
                <a16:creationId xmlns:a16="http://schemas.microsoft.com/office/drawing/2014/main" id="{92D42926-E127-C547-AF24-31BC6B697685}"/>
              </a:ext>
            </a:extLst>
          </p:cNvPr>
          <p:cNvSpPr txBox="1"/>
          <p:nvPr/>
        </p:nvSpPr>
        <p:spPr>
          <a:xfrm>
            <a:off x="240872" y="732248"/>
            <a:ext cx="11710254" cy="369332"/>
          </a:xfrm>
          <a:prstGeom prst="rect">
            <a:avLst/>
          </a:prstGeom>
          <a:noFill/>
        </p:spPr>
        <p:txBody>
          <a:bodyPr wrap="square" rtlCol="0">
            <a:spAutoFit/>
          </a:bodyPr>
          <a:lstStyle/>
          <a:p>
            <a:pPr algn="ctr"/>
            <a:r>
              <a:rPr lang="en-US" dirty="0"/>
              <a:t>Routes with Majority of Shipments In Transit or Returned</a:t>
            </a:r>
          </a:p>
        </p:txBody>
      </p:sp>
    </p:spTree>
    <p:extLst>
      <p:ext uri="{BB962C8B-B14F-4D97-AF65-F5344CB8AC3E}">
        <p14:creationId xmlns:p14="http://schemas.microsoft.com/office/powerpoint/2010/main" val="333283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28BA62-82FB-16A6-C9B4-7C68CE2848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004" y="2096807"/>
            <a:ext cx="3616254" cy="1802039"/>
          </a:xfrm>
          <a:prstGeom prst="rect">
            <a:avLst/>
          </a:prstGeom>
        </p:spPr>
      </p:pic>
      <p:pic>
        <p:nvPicPr>
          <p:cNvPr id="7" name="Picture 6">
            <a:extLst>
              <a:ext uri="{FF2B5EF4-FFF2-40B4-BE49-F238E27FC236}">
                <a16:creationId xmlns:a16="http://schemas.microsoft.com/office/drawing/2014/main" id="{6FDF602C-FA51-A7AE-5F74-8FE2E276E5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224" y="4342904"/>
            <a:ext cx="3616254" cy="1944418"/>
          </a:xfrm>
          <a:prstGeom prst="rect">
            <a:avLst/>
          </a:prstGeom>
        </p:spPr>
      </p:pic>
      <p:sp>
        <p:nvSpPr>
          <p:cNvPr id="8" name="TextBox 7">
            <a:extLst>
              <a:ext uri="{FF2B5EF4-FFF2-40B4-BE49-F238E27FC236}">
                <a16:creationId xmlns:a16="http://schemas.microsoft.com/office/drawing/2014/main" id="{1AB7D8DA-AB12-AC90-0605-CBD8B99088DC}"/>
              </a:ext>
            </a:extLst>
          </p:cNvPr>
          <p:cNvSpPr txBox="1"/>
          <p:nvPr/>
        </p:nvSpPr>
        <p:spPr>
          <a:xfrm>
            <a:off x="2084197" y="841916"/>
            <a:ext cx="8023603" cy="646331"/>
          </a:xfrm>
          <a:prstGeom prst="rect">
            <a:avLst/>
          </a:prstGeom>
          <a:noFill/>
        </p:spPr>
        <p:txBody>
          <a:bodyPr wrap="square" rtlCol="0">
            <a:spAutoFit/>
          </a:bodyPr>
          <a:lstStyle/>
          <a:p>
            <a:r>
              <a:rPr lang="en-GB" dirty="0"/>
              <a:t>Find the most frequent delay reasons (if available in delay-related columns or flag).</a:t>
            </a:r>
            <a:endParaRPr lang="en-US" dirty="0"/>
          </a:p>
          <a:p>
            <a:endParaRPr lang="en-US" dirty="0"/>
          </a:p>
        </p:txBody>
      </p:sp>
      <p:sp>
        <p:nvSpPr>
          <p:cNvPr id="10" name="TextBox 9">
            <a:extLst>
              <a:ext uri="{FF2B5EF4-FFF2-40B4-BE49-F238E27FC236}">
                <a16:creationId xmlns:a16="http://schemas.microsoft.com/office/drawing/2014/main" id="{6864EB9C-649B-FFFE-55BF-BDBA6313E48C}"/>
              </a:ext>
            </a:extLst>
          </p:cNvPr>
          <p:cNvSpPr txBox="1"/>
          <p:nvPr/>
        </p:nvSpPr>
        <p:spPr>
          <a:xfrm>
            <a:off x="3987970" y="85917"/>
            <a:ext cx="4216059" cy="646331"/>
          </a:xfrm>
          <a:prstGeom prst="rect">
            <a:avLst/>
          </a:prstGeom>
          <a:noFill/>
        </p:spPr>
        <p:txBody>
          <a:bodyPr wrap="square" rtlCol="0">
            <a:spAutoFit/>
          </a:bodyPr>
          <a:lstStyle/>
          <a:p>
            <a:pPr algn="ctr"/>
            <a:r>
              <a:rPr lang="en-GB" dirty="0"/>
              <a:t>TASK 6</a:t>
            </a:r>
          </a:p>
          <a:p>
            <a:pPr algn="ctr"/>
            <a:r>
              <a:rPr lang="en-GB" dirty="0"/>
              <a:t>SHIPMENT TRACKING ANALYTICS</a:t>
            </a:r>
            <a:endParaRPr lang="en-US" dirty="0"/>
          </a:p>
        </p:txBody>
      </p:sp>
      <p:graphicFrame>
        <p:nvGraphicFramePr>
          <p:cNvPr id="12" name="Chart 11">
            <a:extLst>
              <a:ext uri="{FF2B5EF4-FFF2-40B4-BE49-F238E27FC236}">
                <a16:creationId xmlns:a16="http://schemas.microsoft.com/office/drawing/2014/main" id="{0154B661-3A4A-1CBC-FA22-43EAE0EA5A2F}"/>
              </a:ext>
            </a:extLst>
          </p:cNvPr>
          <p:cNvGraphicFramePr>
            <a:graphicFrameLocks/>
          </p:cNvGraphicFramePr>
          <p:nvPr>
            <p:extLst>
              <p:ext uri="{D42A27DB-BD31-4B8C-83A1-F6EECF244321}">
                <p14:modId xmlns:p14="http://schemas.microsoft.com/office/powerpoint/2010/main" val="2623217004"/>
              </p:ext>
            </p:extLst>
          </p:nvPr>
        </p:nvGraphicFramePr>
        <p:xfrm>
          <a:off x="5311912" y="1917864"/>
          <a:ext cx="6358864" cy="417156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48132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3671ADC-92D8-2B8C-BE1F-0F89222F24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4141" y="1866900"/>
            <a:ext cx="2990850" cy="1562100"/>
          </a:xfrm>
          <a:prstGeom prst="rect">
            <a:avLst/>
          </a:prstGeom>
        </p:spPr>
      </p:pic>
      <p:sp>
        <p:nvSpPr>
          <p:cNvPr id="5" name="TextBox 4">
            <a:extLst>
              <a:ext uri="{FF2B5EF4-FFF2-40B4-BE49-F238E27FC236}">
                <a16:creationId xmlns:a16="http://schemas.microsoft.com/office/drawing/2014/main" id="{154B703B-AA53-225A-477E-C4C6E7FD1AFD}"/>
              </a:ext>
            </a:extLst>
          </p:cNvPr>
          <p:cNvSpPr txBox="1"/>
          <p:nvPr/>
        </p:nvSpPr>
        <p:spPr>
          <a:xfrm>
            <a:off x="3987970" y="85917"/>
            <a:ext cx="4216059" cy="646331"/>
          </a:xfrm>
          <a:prstGeom prst="rect">
            <a:avLst/>
          </a:prstGeom>
          <a:noFill/>
        </p:spPr>
        <p:txBody>
          <a:bodyPr wrap="square" rtlCol="0">
            <a:spAutoFit/>
          </a:bodyPr>
          <a:lstStyle/>
          <a:p>
            <a:pPr algn="ctr"/>
            <a:r>
              <a:rPr lang="en-GB" dirty="0"/>
              <a:t>TASK 6</a:t>
            </a:r>
          </a:p>
          <a:p>
            <a:pPr algn="ctr"/>
            <a:r>
              <a:rPr lang="en-GB" dirty="0"/>
              <a:t>SHIPMENT TRACKING ANALYTICS</a:t>
            </a:r>
            <a:endParaRPr lang="en-US" dirty="0"/>
          </a:p>
        </p:txBody>
      </p:sp>
      <p:pic>
        <p:nvPicPr>
          <p:cNvPr id="9" name="Picture 8">
            <a:extLst>
              <a:ext uri="{FF2B5EF4-FFF2-40B4-BE49-F238E27FC236}">
                <a16:creationId xmlns:a16="http://schemas.microsoft.com/office/drawing/2014/main" id="{11CBED8B-84D3-7A73-4AD6-2582668DF4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6444" y="1584088"/>
            <a:ext cx="3787743" cy="4479735"/>
          </a:xfrm>
          <a:prstGeom prst="rect">
            <a:avLst/>
          </a:prstGeom>
        </p:spPr>
      </p:pic>
      <p:sp>
        <p:nvSpPr>
          <p:cNvPr id="10" name="TextBox 9">
            <a:extLst>
              <a:ext uri="{FF2B5EF4-FFF2-40B4-BE49-F238E27FC236}">
                <a16:creationId xmlns:a16="http://schemas.microsoft.com/office/drawing/2014/main" id="{1A19340A-9E29-48E9-2290-FE6CD83ADCF2}"/>
              </a:ext>
            </a:extLst>
          </p:cNvPr>
          <p:cNvSpPr txBox="1"/>
          <p:nvPr/>
        </p:nvSpPr>
        <p:spPr>
          <a:xfrm>
            <a:off x="1588204" y="835002"/>
            <a:ext cx="9015589" cy="646331"/>
          </a:xfrm>
          <a:prstGeom prst="rect">
            <a:avLst/>
          </a:prstGeom>
          <a:noFill/>
        </p:spPr>
        <p:txBody>
          <a:bodyPr wrap="square" rtlCol="0">
            <a:spAutoFit/>
          </a:bodyPr>
          <a:lstStyle/>
          <a:p>
            <a:r>
              <a:rPr lang="en-GB" dirty="0"/>
              <a:t>Identify orders with exceptionally high delay (&gt;120 hours) to investigate potential bottleneck</a:t>
            </a:r>
            <a:endParaRPr lang="en-US" dirty="0"/>
          </a:p>
          <a:p>
            <a:endParaRPr lang="en-US" dirty="0"/>
          </a:p>
        </p:txBody>
      </p:sp>
    </p:spTree>
    <p:extLst>
      <p:ext uri="{BB962C8B-B14F-4D97-AF65-F5344CB8AC3E}">
        <p14:creationId xmlns:p14="http://schemas.microsoft.com/office/powerpoint/2010/main" val="616466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A630F56-73C8-373D-4CC2-752B989101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9443" y="1628454"/>
            <a:ext cx="4019550" cy="1438275"/>
          </a:xfrm>
          <a:prstGeom prst="rect">
            <a:avLst/>
          </a:prstGeom>
        </p:spPr>
      </p:pic>
      <p:sp>
        <p:nvSpPr>
          <p:cNvPr id="5" name="TextBox 4">
            <a:extLst>
              <a:ext uri="{FF2B5EF4-FFF2-40B4-BE49-F238E27FC236}">
                <a16:creationId xmlns:a16="http://schemas.microsoft.com/office/drawing/2014/main" id="{5AA69A47-4D32-667F-327B-A2374FE62138}"/>
              </a:ext>
            </a:extLst>
          </p:cNvPr>
          <p:cNvSpPr txBox="1"/>
          <p:nvPr/>
        </p:nvSpPr>
        <p:spPr>
          <a:xfrm>
            <a:off x="3987970" y="85917"/>
            <a:ext cx="4216059" cy="646331"/>
          </a:xfrm>
          <a:prstGeom prst="rect">
            <a:avLst/>
          </a:prstGeom>
          <a:noFill/>
        </p:spPr>
        <p:txBody>
          <a:bodyPr wrap="square" rtlCol="0">
            <a:spAutoFit/>
          </a:bodyPr>
          <a:lstStyle/>
          <a:p>
            <a:pPr algn="ctr"/>
            <a:r>
              <a:rPr lang="en-GB" dirty="0"/>
              <a:t>TASK 7</a:t>
            </a:r>
          </a:p>
          <a:p>
            <a:pPr algn="ctr"/>
            <a:r>
              <a:rPr lang="en-GB" dirty="0"/>
              <a:t>Advanced KPI Reporting</a:t>
            </a:r>
          </a:p>
        </p:txBody>
      </p:sp>
      <p:pic>
        <p:nvPicPr>
          <p:cNvPr id="9" name="Picture 8">
            <a:extLst>
              <a:ext uri="{FF2B5EF4-FFF2-40B4-BE49-F238E27FC236}">
                <a16:creationId xmlns:a16="http://schemas.microsoft.com/office/drawing/2014/main" id="{F535869D-972E-2CA7-ABB8-0B902C3300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50" y="3243060"/>
            <a:ext cx="2242936" cy="3359236"/>
          </a:xfrm>
          <a:prstGeom prst="rect">
            <a:avLst/>
          </a:prstGeom>
        </p:spPr>
      </p:pic>
      <p:graphicFrame>
        <p:nvGraphicFramePr>
          <p:cNvPr id="11" name="Chart 10">
            <a:extLst>
              <a:ext uri="{FF2B5EF4-FFF2-40B4-BE49-F238E27FC236}">
                <a16:creationId xmlns:a16="http://schemas.microsoft.com/office/drawing/2014/main" id="{C7A8F2A2-E6C5-CD8B-C0DF-B8D500B92780}"/>
              </a:ext>
            </a:extLst>
          </p:cNvPr>
          <p:cNvGraphicFramePr>
            <a:graphicFrameLocks/>
          </p:cNvGraphicFramePr>
          <p:nvPr>
            <p:extLst>
              <p:ext uri="{D42A27DB-BD31-4B8C-83A1-F6EECF244321}">
                <p14:modId xmlns:p14="http://schemas.microsoft.com/office/powerpoint/2010/main" val="3958918532"/>
              </p:ext>
            </p:extLst>
          </p:nvPr>
        </p:nvGraphicFramePr>
        <p:xfrm>
          <a:off x="4407326" y="1528294"/>
          <a:ext cx="7593406" cy="4971734"/>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a:extLst>
              <a:ext uri="{FF2B5EF4-FFF2-40B4-BE49-F238E27FC236}">
                <a16:creationId xmlns:a16="http://schemas.microsoft.com/office/drawing/2014/main" id="{C409FDE4-B763-52CE-953A-9BC2E86C8002}"/>
              </a:ext>
            </a:extLst>
          </p:cNvPr>
          <p:cNvSpPr txBox="1"/>
          <p:nvPr/>
        </p:nvSpPr>
        <p:spPr>
          <a:xfrm>
            <a:off x="3911258" y="732248"/>
            <a:ext cx="4369482" cy="369332"/>
          </a:xfrm>
          <a:prstGeom prst="rect">
            <a:avLst/>
          </a:prstGeom>
          <a:noFill/>
        </p:spPr>
        <p:txBody>
          <a:bodyPr wrap="square" rtlCol="0">
            <a:spAutoFit/>
          </a:bodyPr>
          <a:lstStyle/>
          <a:p>
            <a:pPr algn="ctr"/>
            <a:r>
              <a:rPr lang="en-GB" dirty="0"/>
              <a:t>Average Delivery Delay per Source Country</a:t>
            </a:r>
            <a:endParaRPr lang="en-US" dirty="0"/>
          </a:p>
        </p:txBody>
      </p:sp>
    </p:spTree>
    <p:extLst>
      <p:ext uri="{BB962C8B-B14F-4D97-AF65-F5344CB8AC3E}">
        <p14:creationId xmlns:p14="http://schemas.microsoft.com/office/powerpoint/2010/main" val="2194069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DB2AF0-A50A-F4E9-EAD9-EEFEFFC378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40402" y="2577941"/>
            <a:ext cx="4189445" cy="998419"/>
          </a:xfrm>
          <a:prstGeom prst="rect">
            <a:avLst/>
          </a:prstGeom>
        </p:spPr>
      </p:pic>
      <p:sp>
        <p:nvSpPr>
          <p:cNvPr id="7" name="TextBox 6">
            <a:extLst>
              <a:ext uri="{FF2B5EF4-FFF2-40B4-BE49-F238E27FC236}">
                <a16:creationId xmlns:a16="http://schemas.microsoft.com/office/drawing/2014/main" id="{3F72579E-0886-5DAD-7454-FF11F3BA17CD}"/>
              </a:ext>
            </a:extLst>
          </p:cNvPr>
          <p:cNvSpPr txBox="1"/>
          <p:nvPr/>
        </p:nvSpPr>
        <p:spPr>
          <a:xfrm>
            <a:off x="2165306" y="732248"/>
            <a:ext cx="8199939" cy="369332"/>
          </a:xfrm>
          <a:prstGeom prst="rect">
            <a:avLst/>
          </a:prstGeom>
          <a:noFill/>
        </p:spPr>
        <p:txBody>
          <a:bodyPr wrap="square" rtlCol="0">
            <a:spAutoFit/>
          </a:bodyPr>
          <a:lstStyle/>
          <a:p>
            <a:pPr algn="ctr"/>
            <a:r>
              <a:rPr lang="en-GB" dirty="0"/>
              <a:t>On-Time Delivery % = (Total On-Time Deliveries / Total Deliveries) * 100</a:t>
            </a:r>
            <a:endParaRPr lang="en-US" dirty="0"/>
          </a:p>
        </p:txBody>
      </p:sp>
      <p:sp>
        <p:nvSpPr>
          <p:cNvPr id="9" name="TextBox 8">
            <a:extLst>
              <a:ext uri="{FF2B5EF4-FFF2-40B4-BE49-F238E27FC236}">
                <a16:creationId xmlns:a16="http://schemas.microsoft.com/office/drawing/2014/main" id="{C0ADF056-4F82-395D-D629-CD44BBA8CDC6}"/>
              </a:ext>
            </a:extLst>
          </p:cNvPr>
          <p:cNvSpPr txBox="1"/>
          <p:nvPr/>
        </p:nvSpPr>
        <p:spPr>
          <a:xfrm>
            <a:off x="3987970" y="85917"/>
            <a:ext cx="4216059" cy="646331"/>
          </a:xfrm>
          <a:prstGeom prst="rect">
            <a:avLst/>
          </a:prstGeom>
          <a:noFill/>
        </p:spPr>
        <p:txBody>
          <a:bodyPr wrap="square" rtlCol="0">
            <a:spAutoFit/>
          </a:bodyPr>
          <a:lstStyle/>
          <a:p>
            <a:pPr algn="ctr"/>
            <a:r>
              <a:rPr lang="en-GB" dirty="0"/>
              <a:t>TASK 7</a:t>
            </a:r>
          </a:p>
          <a:p>
            <a:pPr algn="ctr"/>
            <a:r>
              <a:rPr lang="en-GB" dirty="0"/>
              <a:t>Advanced KPI Reporting</a:t>
            </a:r>
          </a:p>
        </p:txBody>
      </p:sp>
      <p:pic>
        <p:nvPicPr>
          <p:cNvPr id="11" name="Picture 10">
            <a:extLst>
              <a:ext uri="{FF2B5EF4-FFF2-40B4-BE49-F238E27FC236}">
                <a16:creationId xmlns:a16="http://schemas.microsoft.com/office/drawing/2014/main" id="{E28D4B8A-6C27-E506-A8A3-105FF5A2D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53" y="1791684"/>
            <a:ext cx="4171950" cy="1171575"/>
          </a:xfrm>
          <a:prstGeom prst="rect">
            <a:avLst/>
          </a:prstGeom>
        </p:spPr>
      </p:pic>
    </p:spTree>
    <p:extLst>
      <p:ext uri="{BB962C8B-B14F-4D97-AF65-F5344CB8AC3E}">
        <p14:creationId xmlns:p14="http://schemas.microsoft.com/office/powerpoint/2010/main" val="1931949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7681AE-172D-849F-484D-CAE9E176A8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515" y="2115141"/>
            <a:ext cx="6391912" cy="1698102"/>
          </a:xfrm>
          <a:prstGeom prst="rect">
            <a:avLst/>
          </a:prstGeom>
        </p:spPr>
      </p:pic>
      <p:pic>
        <p:nvPicPr>
          <p:cNvPr id="7" name="Picture 6">
            <a:extLst>
              <a:ext uri="{FF2B5EF4-FFF2-40B4-BE49-F238E27FC236}">
                <a16:creationId xmlns:a16="http://schemas.microsoft.com/office/drawing/2014/main" id="{9FC62350-4BAC-29A3-40B9-BE79754BF4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8992" y="1818430"/>
            <a:ext cx="1864409" cy="3221139"/>
          </a:xfrm>
          <a:prstGeom prst="rect">
            <a:avLst/>
          </a:prstGeom>
        </p:spPr>
      </p:pic>
      <p:sp>
        <p:nvSpPr>
          <p:cNvPr id="9" name="TextBox 8">
            <a:extLst>
              <a:ext uri="{FF2B5EF4-FFF2-40B4-BE49-F238E27FC236}">
                <a16:creationId xmlns:a16="http://schemas.microsoft.com/office/drawing/2014/main" id="{37E7D5DC-ABA8-5B3C-9A93-808F916C1FA3}"/>
              </a:ext>
            </a:extLst>
          </p:cNvPr>
          <p:cNvSpPr txBox="1"/>
          <p:nvPr/>
        </p:nvSpPr>
        <p:spPr>
          <a:xfrm>
            <a:off x="3987970" y="85917"/>
            <a:ext cx="4216059" cy="646331"/>
          </a:xfrm>
          <a:prstGeom prst="rect">
            <a:avLst/>
          </a:prstGeom>
          <a:noFill/>
        </p:spPr>
        <p:txBody>
          <a:bodyPr wrap="square" rtlCol="0">
            <a:spAutoFit/>
          </a:bodyPr>
          <a:lstStyle/>
          <a:p>
            <a:pPr algn="ctr"/>
            <a:r>
              <a:rPr lang="en-GB" dirty="0"/>
              <a:t>TASK 7</a:t>
            </a:r>
          </a:p>
          <a:p>
            <a:pPr algn="ctr"/>
            <a:r>
              <a:rPr lang="en-GB" dirty="0"/>
              <a:t>Advanced KPI Reporting</a:t>
            </a:r>
          </a:p>
        </p:txBody>
      </p:sp>
      <p:sp>
        <p:nvSpPr>
          <p:cNvPr id="11" name="TextBox 10">
            <a:extLst>
              <a:ext uri="{FF2B5EF4-FFF2-40B4-BE49-F238E27FC236}">
                <a16:creationId xmlns:a16="http://schemas.microsoft.com/office/drawing/2014/main" id="{A5845E6B-1B3A-2982-3BD0-F39BC8EF66E8}"/>
              </a:ext>
            </a:extLst>
          </p:cNvPr>
          <p:cNvSpPr txBox="1"/>
          <p:nvPr/>
        </p:nvSpPr>
        <p:spPr>
          <a:xfrm>
            <a:off x="2165306" y="732248"/>
            <a:ext cx="8199939" cy="369332"/>
          </a:xfrm>
          <a:prstGeom prst="rect">
            <a:avLst/>
          </a:prstGeom>
          <a:noFill/>
        </p:spPr>
        <p:txBody>
          <a:bodyPr wrap="square" rtlCol="0">
            <a:spAutoFit/>
          </a:bodyPr>
          <a:lstStyle/>
          <a:p>
            <a:pPr algn="ctr"/>
            <a:r>
              <a:rPr lang="en-GB" dirty="0"/>
              <a:t>Average Delay (in hours) per Route ID</a:t>
            </a:r>
            <a:endParaRPr lang="en-US" dirty="0"/>
          </a:p>
        </p:txBody>
      </p:sp>
    </p:spTree>
    <p:extLst>
      <p:ext uri="{BB962C8B-B14F-4D97-AF65-F5344CB8AC3E}">
        <p14:creationId xmlns:p14="http://schemas.microsoft.com/office/powerpoint/2010/main" val="524781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A22F75-1AC6-A795-69B9-A145198143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05079" y="3238179"/>
            <a:ext cx="4638675" cy="1876425"/>
          </a:xfrm>
          <a:prstGeom prst="rect">
            <a:avLst/>
          </a:prstGeom>
        </p:spPr>
      </p:pic>
      <p:pic>
        <p:nvPicPr>
          <p:cNvPr id="7" name="Picture 6">
            <a:extLst>
              <a:ext uri="{FF2B5EF4-FFF2-40B4-BE49-F238E27FC236}">
                <a16:creationId xmlns:a16="http://schemas.microsoft.com/office/drawing/2014/main" id="{10F478EB-11F8-07F2-E6D6-EB43715D1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026" y="2038350"/>
            <a:ext cx="3590925" cy="2781300"/>
          </a:xfrm>
          <a:prstGeom prst="rect">
            <a:avLst/>
          </a:prstGeom>
        </p:spPr>
      </p:pic>
      <p:sp>
        <p:nvSpPr>
          <p:cNvPr id="9" name="TextBox 8">
            <a:extLst>
              <a:ext uri="{FF2B5EF4-FFF2-40B4-BE49-F238E27FC236}">
                <a16:creationId xmlns:a16="http://schemas.microsoft.com/office/drawing/2014/main" id="{5AA138A9-8C26-BACC-5BEA-1826619E17F3}"/>
              </a:ext>
            </a:extLst>
          </p:cNvPr>
          <p:cNvSpPr txBox="1"/>
          <p:nvPr/>
        </p:nvSpPr>
        <p:spPr>
          <a:xfrm>
            <a:off x="2165306" y="732248"/>
            <a:ext cx="8199939" cy="369332"/>
          </a:xfrm>
          <a:prstGeom prst="rect">
            <a:avLst/>
          </a:prstGeom>
          <a:noFill/>
        </p:spPr>
        <p:txBody>
          <a:bodyPr wrap="square" rtlCol="0">
            <a:spAutoFit/>
          </a:bodyPr>
          <a:lstStyle/>
          <a:p>
            <a:pPr algn="ctr"/>
            <a:r>
              <a:rPr lang="en-GB" dirty="0"/>
              <a:t>Warehouse Utilization % = (Shipments Handled / Capacity per day) * 100</a:t>
            </a:r>
            <a:endParaRPr lang="en-US" dirty="0"/>
          </a:p>
        </p:txBody>
      </p:sp>
      <p:sp>
        <p:nvSpPr>
          <p:cNvPr id="11" name="TextBox 10">
            <a:extLst>
              <a:ext uri="{FF2B5EF4-FFF2-40B4-BE49-F238E27FC236}">
                <a16:creationId xmlns:a16="http://schemas.microsoft.com/office/drawing/2014/main" id="{3CEFA4F7-2013-A4E0-3308-6627B63C3067}"/>
              </a:ext>
            </a:extLst>
          </p:cNvPr>
          <p:cNvSpPr txBox="1"/>
          <p:nvPr/>
        </p:nvSpPr>
        <p:spPr>
          <a:xfrm>
            <a:off x="3987970" y="85917"/>
            <a:ext cx="4216059" cy="646331"/>
          </a:xfrm>
          <a:prstGeom prst="rect">
            <a:avLst/>
          </a:prstGeom>
          <a:noFill/>
        </p:spPr>
        <p:txBody>
          <a:bodyPr wrap="square" rtlCol="0">
            <a:spAutoFit/>
          </a:bodyPr>
          <a:lstStyle/>
          <a:p>
            <a:pPr algn="ctr"/>
            <a:r>
              <a:rPr lang="en-GB" dirty="0"/>
              <a:t>TASK 7</a:t>
            </a:r>
          </a:p>
          <a:p>
            <a:pPr algn="ctr"/>
            <a:r>
              <a:rPr lang="en-GB" dirty="0"/>
              <a:t>Advanced KPI Reporting</a:t>
            </a:r>
          </a:p>
        </p:txBody>
      </p:sp>
    </p:spTree>
    <p:extLst>
      <p:ext uri="{BB962C8B-B14F-4D97-AF65-F5344CB8AC3E}">
        <p14:creationId xmlns:p14="http://schemas.microsoft.com/office/powerpoint/2010/main" val="2949097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4ACE7-0648-F228-8699-C92A61C1A60F}"/>
              </a:ext>
            </a:extLst>
          </p:cNvPr>
          <p:cNvSpPr>
            <a:spLocks noGrp="1"/>
          </p:cNvSpPr>
          <p:nvPr>
            <p:ph idx="1"/>
          </p:nvPr>
        </p:nvSpPr>
        <p:spPr/>
        <p:txBody>
          <a:bodyPr>
            <a:normAutofit fontScale="92500" lnSpcReduction="20000"/>
          </a:bodyPr>
          <a:lstStyle/>
          <a:p>
            <a:pPr marL="342900" indent="-342900">
              <a:buAutoNum type="arabicPeriod"/>
            </a:pPr>
            <a:r>
              <a:rPr lang="en-US" dirty="0"/>
              <a:t>Traffic is the primary reason for shipment delays on all routes. </a:t>
            </a:r>
          </a:p>
          <a:p>
            <a:pPr marL="342900" indent="-342900">
              <a:buAutoNum type="arabicPeriod"/>
            </a:pPr>
            <a:r>
              <a:rPr lang="en-US" dirty="0"/>
              <a:t>Route R015 has the most punctual delivery. </a:t>
            </a:r>
          </a:p>
          <a:p>
            <a:pPr marL="342900" indent="-342900">
              <a:buAutoNum type="arabicPeriod"/>
            </a:pPr>
            <a:r>
              <a:rPr lang="en-US" dirty="0"/>
              <a:t>The top five agents are performing poorly, while the bottom five are doing well, based on the average experience years to average rating ratio. </a:t>
            </a:r>
          </a:p>
          <a:p>
            <a:pPr marL="342900" indent="-342900">
              <a:buAutoNum type="arabicPeriod"/>
            </a:pPr>
            <a:r>
              <a:rPr lang="en-US" dirty="0"/>
              <a:t>Warehouses 3, 4, and 8 have the most average delivery delays, exceeding the global average. </a:t>
            </a:r>
          </a:p>
          <a:p>
            <a:pPr marL="342900" indent="-342900">
              <a:buAutoNum type="arabicPeriod"/>
            </a:pPr>
            <a:r>
              <a:rPr lang="en-US" dirty="0"/>
              <a:t>When it comes to timely delivery, Counter Intuitively 8 comes in second. The majority of on-time deliveries come from Warehouse 10. </a:t>
            </a:r>
          </a:p>
          <a:p>
            <a:pPr marL="342900" indent="-342900">
              <a:buAutoNum type="arabicPeriod"/>
            </a:pPr>
            <a:r>
              <a:rPr lang="en-US" dirty="0"/>
              <a:t>The most on-time deliveries are made by agents A0042, 9, and 14. </a:t>
            </a:r>
          </a:p>
          <a:p>
            <a:pPr marL="342900" indent="-342900">
              <a:buAutoNum type="arabicPeriod"/>
            </a:pPr>
            <a:r>
              <a:rPr lang="en-US" dirty="0"/>
              <a:t>Less than 85% of agents deliver on time. </a:t>
            </a:r>
          </a:p>
          <a:p>
            <a:pPr marL="342900" indent="-342900">
              <a:buAutoNum type="arabicPeriod"/>
            </a:pPr>
            <a:r>
              <a:rPr lang="en-US" dirty="0"/>
              <a:t>R15 Netherlands has a timely height percentage.</a:t>
            </a:r>
          </a:p>
        </p:txBody>
      </p:sp>
      <p:sp>
        <p:nvSpPr>
          <p:cNvPr id="5" name="TextBox 4">
            <a:extLst>
              <a:ext uri="{FF2B5EF4-FFF2-40B4-BE49-F238E27FC236}">
                <a16:creationId xmlns:a16="http://schemas.microsoft.com/office/drawing/2014/main" id="{A9C198AE-8BCC-8277-85AA-FED1258132B0}"/>
              </a:ext>
            </a:extLst>
          </p:cNvPr>
          <p:cNvSpPr txBox="1"/>
          <p:nvPr/>
        </p:nvSpPr>
        <p:spPr>
          <a:xfrm>
            <a:off x="4772983" y="94009"/>
            <a:ext cx="2646034" cy="646331"/>
          </a:xfrm>
          <a:prstGeom prst="rect">
            <a:avLst/>
          </a:prstGeom>
          <a:noFill/>
        </p:spPr>
        <p:txBody>
          <a:bodyPr wrap="square" rtlCol="0">
            <a:spAutoFit/>
          </a:bodyPr>
          <a:lstStyle/>
          <a:p>
            <a:pPr algn="ctr"/>
            <a:r>
              <a:rPr lang="en-GB" sz="3600" dirty="0"/>
              <a:t>Conclusion</a:t>
            </a:r>
            <a:endParaRPr lang="en-US" sz="3600" dirty="0"/>
          </a:p>
        </p:txBody>
      </p:sp>
      <p:sp>
        <p:nvSpPr>
          <p:cNvPr id="7" name="TextBox 6">
            <a:extLst>
              <a:ext uri="{FF2B5EF4-FFF2-40B4-BE49-F238E27FC236}">
                <a16:creationId xmlns:a16="http://schemas.microsoft.com/office/drawing/2014/main" id="{58955855-84BA-BC33-4082-7E2632FAEB70}"/>
              </a:ext>
            </a:extLst>
          </p:cNvPr>
          <p:cNvSpPr txBox="1"/>
          <p:nvPr/>
        </p:nvSpPr>
        <p:spPr>
          <a:xfrm>
            <a:off x="838200" y="1012683"/>
            <a:ext cx="2804569" cy="523220"/>
          </a:xfrm>
          <a:prstGeom prst="rect">
            <a:avLst/>
          </a:prstGeom>
          <a:noFill/>
        </p:spPr>
        <p:txBody>
          <a:bodyPr wrap="square" rtlCol="0">
            <a:spAutoFit/>
          </a:bodyPr>
          <a:lstStyle/>
          <a:p>
            <a:r>
              <a:rPr lang="en-IN" sz="2800" dirty="0"/>
              <a:t>Key Insights</a:t>
            </a:r>
            <a:endParaRPr lang="en-US" sz="2800" dirty="0"/>
          </a:p>
        </p:txBody>
      </p:sp>
    </p:spTree>
    <p:extLst>
      <p:ext uri="{BB962C8B-B14F-4D97-AF65-F5344CB8AC3E}">
        <p14:creationId xmlns:p14="http://schemas.microsoft.com/office/powerpoint/2010/main" val="2740165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83E0-0A48-F24E-1AE5-A9871EC46548}"/>
              </a:ext>
            </a:extLst>
          </p:cNvPr>
          <p:cNvSpPr>
            <a:spLocks noGrp="1"/>
          </p:cNvSpPr>
          <p:nvPr>
            <p:ph type="title"/>
          </p:nvPr>
        </p:nvSpPr>
        <p:spPr>
          <a:xfrm>
            <a:off x="614464" y="1016878"/>
            <a:ext cx="4502285" cy="607641"/>
          </a:xfrm>
        </p:spPr>
        <p:txBody>
          <a:bodyPr>
            <a:noAutofit/>
          </a:bodyPr>
          <a:lstStyle/>
          <a:p>
            <a:r>
              <a:rPr lang="en-IN" sz="2800" b="1" dirty="0"/>
              <a:t>Recommendations</a:t>
            </a:r>
            <a:br>
              <a:rPr lang="en-US" sz="1800" dirty="0"/>
            </a:br>
            <a:endParaRPr lang="en-US" sz="1800" dirty="0"/>
          </a:p>
        </p:txBody>
      </p:sp>
      <p:sp>
        <p:nvSpPr>
          <p:cNvPr id="3" name="Content Placeholder 2">
            <a:extLst>
              <a:ext uri="{FF2B5EF4-FFF2-40B4-BE49-F238E27FC236}">
                <a16:creationId xmlns:a16="http://schemas.microsoft.com/office/drawing/2014/main" id="{8AB9615A-E6DD-7839-B15A-A36D95CBABF8}"/>
              </a:ext>
            </a:extLst>
          </p:cNvPr>
          <p:cNvSpPr>
            <a:spLocks noGrp="1"/>
          </p:cNvSpPr>
          <p:nvPr>
            <p:ph idx="1"/>
          </p:nvPr>
        </p:nvSpPr>
        <p:spPr/>
        <p:txBody>
          <a:bodyPr/>
          <a:lstStyle/>
          <a:p>
            <a:pPr marL="342900" indent="-342900">
              <a:buFont typeface="+mj-lt"/>
              <a:buAutoNum type="arabicPeriod"/>
            </a:pPr>
            <a:r>
              <a:rPr lang="en-US" dirty="0"/>
              <a:t>To optimize the logistics, a logistics level audit must be carried out.</a:t>
            </a:r>
          </a:p>
          <a:p>
            <a:pPr marL="342900" indent="-342900">
              <a:buFont typeface="+mj-lt"/>
              <a:buAutoNum type="arabicPeriod"/>
            </a:pPr>
            <a:r>
              <a:rPr lang="en-US" dirty="0"/>
              <a:t>Low-performing agents ought to be placed with high-performing agents.</a:t>
            </a:r>
          </a:p>
          <a:p>
            <a:pPr marL="342900" indent="-342900">
              <a:buFont typeface="+mj-lt"/>
              <a:buAutoNum type="arabicPeriod"/>
            </a:pPr>
            <a:r>
              <a:rPr lang="en-US" dirty="0"/>
              <a:t>If an agent delivers the cargo ahead of schedule, there should be a bonus.</a:t>
            </a:r>
          </a:p>
          <a:p>
            <a:pPr marL="342900" indent="-342900">
              <a:buFont typeface="+mj-lt"/>
              <a:buAutoNum type="arabicPeriod"/>
            </a:pPr>
            <a:r>
              <a:rPr lang="en-US" dirty="0"/>
              <a:t>Every warehouse has to have more inventory on hand than the goods we need to deliver.</a:t>
            </a:r>
          </a:p>
          <a:p>
            <a:pPr marL="342900" indent="-342900">
              <a:buFont typeface="+mj-lt"/>
              <a:buAutoNum type="arabicPeriod"/>
            </a:pPr>
            <a:r>
              <a:rPr lang="en-US" dirty="0"/>
              <a:t>On routes that are delayed, rerouting is necessary.</a:t>
            </a:r>
          </a:p>
          <a:p>
            <a:endParaRPr lang="en-US" dirty="0"/>
          </a:p>
        </p:txBody>
      </p:sp>
      <p:sp>
        <p:nvSpPr>
          <p:cNvPr id="5" name="TextBox 4">
            <a:extLst>
              <a:ext uri="{FF2B5EF4-FFF2-40B4-BE49-F238E27FC236}">
                <a16:creationId xmlns:a16="http://schemas.microsoft.com/office/drawing/2014/main" id="{C136A51D-55A6-6C99-D27C-D35C1BA87B35}"/>
              </a:ext>
            </a:extLst>
          </p:cNvPr>
          <p:cNvSpPr txBox="1"/>
          <p:nvPr/>
        </p:nvSpPr>
        <p:spPr>
          <a:xfrm>
            <a:off x="4772983" y="94009"/>
            <a:ext cx="2646034" cy="646331"/>
          </a:xfrm>
          <a:prstGeom prst="rect">
            <a:avLst/>
          </a:prstGeom>
          <a:noFill/>
        </p:spPr>
        <p:txBody>
          <a:bodyPr wrap="square" rtlCol="0">
            <a:spAutoFit/>
          </a:bodyPr>
          <a:lstStyle/>
          <a:p>
            <a:pPr algn="ctr"/>
            <a:r>
              <a:rPr lang="en-GB" sz="3600" dirty="0"/>
              <a:t>Conclusion</a:t>
            </a:r>
            <a:endParaRPr lang="en-US" sz="3600" dirty="0"/>
          </a:p>
        </p:txBody>
      </p:sp>
    </p:spTree>
    <p:extLst>
      <p:ext uri="{BB962C8B-B14F-4D97-AF65-F5344CB8AC3E}">
        <p14:creationId xmlns:p14="http://schemas.microsoft.com/office/powerpoint/2010/main" val="4235404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1031</Words>
  <Application>Microsoft Office PowerPoint</Application>
  <PresentationFormat>Widescreen</PresentationFormat>
  <Paragraphs>171</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Alpenkreuzer</vt:lpstr>
      <vt:lpstr>Arial</vt:lpstr>
      <vt:lpstr>Calibri</vt:lpstr>
      <vt:lpstr>Calibri Light</vt:lpstr>
      <vt:lpstr>Office Theme</vt:lpstr>
      <vt:lpstr>Logistics Optimization for Delivery Routes – DHL </vt:lpstr>
      <vt:lpstr>Project Objectives</vt:lpstr>
      <vt:lpstr>Dataset Description</vt:lpstr>
      <vt:lpstr>Data Cleaning &amp; Preparation</vt:lpstr>
      <vt:lpstr>PowerPoint Presentation</vt:lpstr>
      <vt:lpstr>PowerPoint Presentation</vt:lpstr>
      <vt:lpstr>PowerPoint Presentation</vt:lpstr>
      <vt:lpstr>PowerPoint Presentation</vt:lpstr>
      <vt:lpstr>Insights</vt:lpstr>
      <vt:lpstr>Route Optimization Insights</vt:lpstr>
      <vt:lpstr>PowerPoint Presentation</vt:lpstr>
      <vt:lpstr>PowerPoint Presentation</vt:lpstr>
      <vt:lpstr>Task 3</vt:lpstr>
      <vt:lpstr>Task 3</vt:lpstr>
      <vt:lpstr>Task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PAUL</dc:creator>
  <cp:lastModifiedBy>SAHIL PAUL</cp:lastModifiedBy>
  <cp:revision>6</cp:revision>
  <dcterms:created xsi:type="dcterms:W3CDTF">2026-07-10T18:57:17Z</dcterms:created>
  <dcterms:modified xsi:type="dcterms:W3CDTF">2026-07-21T09:00:55Z</dcterms:modified>
</cp:coreProperties>
</file>